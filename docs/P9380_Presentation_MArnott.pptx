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1" r:id="rId6"/>
    <p:sldId id="262" r:id="rId7"/>
    <p:sldId id="267" r:id="rId8"/>
    <p:sldId id="263" r:id="rId9"/>
    <p:sldId id="264" r:id="rId10"/>
    <p:sldId id="268" r:id="rId11"/>
    <p:sldId id="265" r:id="rId12"/>
    <p:sldId id="266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8342"/>
    <p:restoredTop sz="94693"/>
  </p:normalViewPr>
  <p:slideViewPr>
    <p:cSldViewPr snapToGrid="0" snapToObjects="1">
      <p:cViewPr varScale="1">
        <p:scale>
          <a:sx n="118" d="100"/>
          <a:sy n="118" d="100"/>
        </p:scale>
        <p:origin x="6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1771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FEC39-6F0D-C570-11C4-00E9FD149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08A5A9-628D-69CD-8FCB-32DA3E038C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542181-151D-A42D-4E42-57ED5C3077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37C11-2EA9-F61F-6640-273BD98B4F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2784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F4F2E-6CAB-14DD-AC54-9F65D330A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26A19A-1F8A-9D93-4967-B3682EC8CB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3BCC49-34BE-478D-6B64-196F4BEFFC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C2D0C8-B415-4179-ACB7-9C15FD5BDC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1578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5067/MEASURES/SRTM/SRTMGL1.003" TargetMode="External"/><Relationship Id="rId3" Type="http://schemas.openxmlformats.org/officeDocument/2006/relationships/hyperlink" Target="https://wmo.int/" TargetMode="External"/><Relationship Id="rId7" Type="http://schemas.openxmlformats.org/officeDocument/2006/relationships/hyperlink" Target="https://doi.org/10.1073/pnas.2113658119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1073/pnas.2024792118" TargetMode="External"/><Relationship Id="rId11" Type="http://schemas.openxmlformats.org/officeDocument/2006/relationships/hyperlink" Target="https://docs.ropensci.org/rnaturalearth/" TargetMode="External"/><Relationship Id="rId5" Type="http://schemas.openxmlformats.org/officeDocument/2006/relationships/hyperlink" Target="https://doi.org/10.7927/hff0-k565" TargetMode="External"/><Relationship Id="rId10" Type="http://schemas.openxmlformats.org/officeDocument/2006/relationships/hyperlink" Target="https://gadm.org/" TargetMode="External"/><Relationship Id="rId4" Type="http://schemas.openxmlformats.org/officeDocument/2006/relationships/hyperlink" Target="https://doi.org/10.1016/j.envc.2021.100122" TargetMode="External"/><Relationship Id="rId9" Type="http://schemas.openxmlformats.org/officeDocument/2006/relationships/hyperlink" Target="https://doi.org/10.7927/H49C6VHW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C"/>
          </a:solidFill>
          <a:ln>
            <a:solidFill>
              <a:srgbClr val="0D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71631"/>
          </a:solidFill>
          <a:ln>
            <a:solidFill>
              <a:srgbClr val="071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502920" y="0"/>
            <a:ext cx="64008" cy="6858000"/>
          </a:xfrm>
          <a:prstGeom prst="rect">
            <a:avLst/>
          </a:prstGeom>
          <a:solidFill>
            <a:srgbClr val="0080C8"/>
          </a:solidFill>
          <a:ln>
            <a:solidFill>
              <a:srgbClr val="008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914632" y="0"/>
            <a:ext cx="274320" cy="6858000"/>
          </a:xfrm>
          <a:prstGeom prst="rect">
            <a:avLst/>
          </a:prstGeom>
          <a:solidFill>
            <a:srgbClr val="071631"/>
          </a:solidFill>
          <a:ln>
            <a:solidFill>
              <a:srgbClr val="071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11274552" cy="36576"/>
          </a:xfrm>
          <a:prstGeom prst="rect">
            <a:avLst/>
          </a:prstGeom>
          <a:solidFill>
            <a:srgbClr val="0080C8"/>
          </a:solidFill>
          <a:ln>
            <a:solidFill>
              <a:srgbClr val="008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898933"/>
            <a:ext cx="1081735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FFFFFF"/>
                </a:solidFill>
                <a:latin typeface="Calibri"/>
              </a:rPr>
              <a:t>Beyond the Hotspot: Spatial and Longitudinal Analysis of Differing Heat Exposure and Warming Trajectories In Bangladesh, 1983-2016</a:t>
            </a:r>
            <a:endParaRPr sz="3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85800" y="3977639"/>
            <a:ext cx="10817352" cy="36576"/>
          </a:xfrm>
          <a:prstGeom prst="rect">
            <a:avLst/>
          </a:prstGeom>
          <a:solidFill>
            <a:srgbClr val="0080C8"/>
          </a:solidFill>
          <a:ln>
            <a:solidFill>
              <a:srgbClr val="008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4114800"/>
            <a:ext cx="3060453" cy="8566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Maya Arnott</a:t>
            </a:r>
            <a:endParaRPr sz="1600" b="1" i="0" dirty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100" b="0" i="0" dirty="0">
                <a:solidFill>
                  <a:srgbClr val="75AADB"/>
                </a:solidFill>
                <a:latin typeface="Calibri"/>
              </a:rPr>
              <a:t>P9380: Advanced Public Health GIS  |  Spring 2026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lang="en-US" sz="1100" b="0" i="0" dirty="0">
                <a:solidFill>
                  <a:srgbClr val="5A6E8C"/>
                </a:solidFill>
                <a:latin typeface="Calibri"/>
              </a:rPr>
              <a:t>29 April 2026</a:t>
            </a:r>
            <a:endParaRPr sz="1100" b="0" i="0" dirty="0">
              <a:solidFill>
                <a:srgbClr val="5A6E8C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71631"/>
          </a:solidFill>
          <a:ln>
            <a:solidFill>
              <a:srgbClr val="071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2880" y="6611112"/>
            <a:ext cx="1109167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 dirty="0">
                <a:solidFill>
                  <a:srgbClr val="75AADB"/>
                </a:solidFill>
                <a:latin typeface="Calibri"/>
              </a:rPr>
              <a:t>P9380: Advanced Public Health GIS  |  Columbia University Mailman School of Public Health  |  Spring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43542" y="6537960"/>
            <a:ext cx="45397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 dirty="0">
                <a:solidFill>
                  <a:srgbClr val="FFFFFF"/>
                </a:solidFill>
                <a:latin typeface="Calibri"/>
              </a:rPr>
              <a:t>1 / 1</a:t>
            </a:r>
            <a:r>
              <a:rPr lang="en-US" sz="900" b="0" i="0" dirty="0">
                <a:solidFill>
                  <a:srgbClr val="FFFFFF"/>
                </a:solidFill>
                <a:latin typeface="Calibri"/>
              </a:rPr>
              <a:t>2</a:t>
            </a:r>
            <a:endParaRPr sz="900" b="0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D4F91"/>
          </a:solidFill>
          <a:ln>
            <a:solidFill>
              <a:srgbClr val="1D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 dirty="0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75AADB"/>
                </a:solidFill>
                <a:latin typeface="Calibri"/>
              </a:rPr>
              <a:t>Section 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486400" cy="36576"/>
          </a:xfrm>
          <a:prstGeom prst="rect">
            <a:avLst/>
          </a:prstGeom>
          <a:solidFill>
            <a:srgbClr val="0080C8"/>
          </a:solidFill>
          <a:ln>
            <a:solidFill>
              <a:srgbClr val="008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97519"/>
            <a:ext cx="237026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 dirty="0">
                <a:solidFill>
                  <a:srgbClr val="0D2B5C"/>
                </a:solidFill>
                <a:latin typeface="Calibri"/>
              </a:rPr>
              <a:t>Public Health Background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384441"/>
            <a:ext cx="54864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600" i="1" dirty="0">
                <a:solidFill>
                  <a:srgbClr val="5A6E8C"/>
                </a:solidFill>
                <a:latin typeface="Calibri"/>
              </a:rPr>
              <a:t>Extreme humid heat is one of the most lethal consequences of climate change and Southeast Asia contribute more than half of all global deaths attributed to high temperatures [1]. The problem is spatial because Asia is warming twice as fast as global averages [2].</a:t>
            </a:r>
            <a:endParaRPr sz="1600" b="0" i="1" dirty="0">
              <a:solidFill>
                <a:srgbClr val="5A6E8C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2666153"/>
            <a:ext cx="5637212" cy="1521708"/>
          </a:xfrm>
          <a:prstGeom prst="rect">
            <a:avLst/>
          </a:prstGeom>
          <a:solidFill>
            <a:srgbClr val="E5EFF9"/>
          </a:solidFill>
          <a:ln w="15240">
            <a:solidFill>
              <a:srgbClr val="008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630" y="2666153"/>
            <a:ext cx="46492" cy="1521708"/>
          </a:xfrm>
          <a:prstGeom prst="rect">
            <a:avLst/>
          </a:prstGeom>
          <a:solidFill>
            <a:srgbClr val="008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8076" y="2681262"/>
            <a:ext cx="53683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 dirty="0">
                <a:solidFill>
                  <a:srgbClr val="0080C8"/>
                </a:solidFill>
                <a:latin typeface="Calibri"/>
              </a:rPr>
              <a:t>Research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45715"/>
            <a:ext cx="5382098" cy="1190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dirty="0"/>
              <a:t>Where is extreme humid heat currently most severe in Bangladesh, and do those areas align with future risk hotspots? </a:t>
            </a:r>
          </a:p>
          <a:p>
            <a:pPr>
              <a:spcAft>
                <a:spcPts val="400"/>
              </a:spcAft>
            </a:pPr>
            <a:endParaRPr lang="en-US" sz="1400" b="0" i="1" dirty="0">
              <a:solidFill>
                <a:srgbClr val="0D2B5C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9768" y="4260471"/>
            <a:ext cx="275684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 dirty="0">
                <a:solidFill>
                  <a:srgbClr val="0D2B5C"/>
                </a:solidFill>
                <a:latin typeface="Calibri"/>
              </a:rPr>
              <a:t>Analytical Approach (Preview)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4647491"/>
            <a:ext cx="5650928" cy="180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400" i="1" dirty="0">
                <a:solidFill>
                  <a:srgbClr val="5A6E8C"/>
                </a:solidFill>
                <a:latin typeface="Calibri"/>
              </a:rPr>
              <a:t>T</a:t>
            </a:r>
            <a:r>
              <a:rPr lang="en-US" sz="1400" b="0" i="1" dirty="0">
                <a:solidFill>
                  <a:srgbClr val="5A6E8C"/>
                </a:solidFill>
                <a:latin typeface="Calibri"/>
              </a:rPr>
              <a:t>his project applies a spatial analytical framework to 34 years of satellite data including:</a:t>
            </a:r>
            <a:endParaRPr lang="en-US" sz="1400" i="1" dirty="0">
              <a:solidFill>
                <a:srgbClr val="5A6E8C"/>
              </a:solidFill>
              <a:latin typeface="Calibri"/>
            </a:endParaRPr>
          </a:p>
          <a:p>
            <a:pPr marL="285750" indent="-285750" algn="l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rgbClr val="5A6E8C"/>
                </a:solidFill>
                <a:latin typeface="Calibri"/>
              </a:rPr>
              <a:t>B</a:t>
            </a:r>
            <a:r>
              <a:rPr lang="en-US" sz="1400" b="0" i="1" dirty="0">
                <a:solidFill>
                  <a:srgbClr val="5A6E8C"/>
                </a:solidFill>
                <a:latin typeface="Calibri"/>
              </a:rPr>
              <a:t>ivariate Local Indicators of Spatial Association (LISA)</a:t>
            </a:r>
          </a:p>
          <a:p>
            <a:pPr marL="285750" indent="-285750" algn="l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b="0" i="1" dirty="0">
                <a:solidFill>
                  <a:srgbClr val="5A6E8C"/>
                </a:solidFill>
                <a:latin typeface="Calibri"/>
              </a:rPr>
              <a:t>Emerging Hotspot Analysis (EHSA)</a:t>
            </a:r>
          </a:p>
          <a:p>
            <a:pPr marL="285750" indent="-285750" algn="l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b="0" i="1" dirty="0">
                <a:solidFill>
                  <a:srgbClr val="5A6E8C"/>
                </a:solidFill>
                <a:latin typeface="Calibri"/>
              </a:rPr>
              <a:t>Bayesian model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400" i="1" dirty="0">
                <a:solidFill>
                  <a:srgbClr val="5A6E8C"/>
                </a:solidFill>
                <a:latin typeface="Calibri"/>
              </a:rPr>
              <a:t>To </a:t>
            </a:r>
            <a:r>
              <a:rPr lang="en-US" sz="1400" b="0" i="1" dirty="0">
                <a:solidFill>
                  <a:srgbClr val="5A6E8C"/>
                </a:solidFill>
                <a:latin typeface="Calibri"/>
              </a:rPr>
              <a:t> 64 administrative districts in Bangladesh to examine the spatial and temporal structure of extreme heat risk.</a:t>
            </a:r>
            <a:endParaRPr sz="1400" b="0" i="1" dirty="0">
              <a:solidFill>
                <a:srgbClr val="5A6E8C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76433" y="5249778"/>
            <a:ext cx="253466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 i="1" dirty="0">
                <a:solidFill>
                  <a:srgbClr val="5A6E8C"/>
                </a:solidFill>
                <a:latin typeface="Calibri"/>
              </a:rPr>
              <a:t>Figure 1.</a:t>
            </a:r>
            <a:r>
              <a:rPr lang="en-US" sz="900" i="1" dirty="0">
                <a:solidFill>
                  <a:srgbClr val="5A6E8C"/>
                </a:solidFill>
                <a:latin typeface="Calibri"/>
              </a:rPr>
              <a:t> Study Region</a:t>
            </a:r>
            <a:r>
              <a:rPr sz="900" b="0" i="1" dirty="0">
                <a:solidFill>
                  <a:srgbClr val="5A6E8C"/>
                </a:solidFill>
                <a:latin typeface="Calibri"/>
              </a:rPr>
              <a:t>. [</a:t>
            </a:r>
            <a:r>
              <a:rPr lang="en-US" sz="900" b="0" i="1" dirty="0">
                <a:solidFill>
                  <a:srgbClr val="5A6E8C"/>
                </a:solidFill>
                <a:latin typeface="Calibri"/>
              </a:rPr>
              <a:t>South Asia, Natural Earth</a:t>
            </a:r>
            <a:r>
              <a:rPr lang="en-US" sz="900" i="1" dirty="0">
                <a:solidFill>
                  <a:srgbClr val="5A6E8C"/>
                </a:solidFill>
                <a:latin typeface="Calibri"/>
              </a:rPr>
              <a:t>]</a:t>
            </a:r>
            <a:endParaRPr sz="900" b="0" i="1" dirty="0">
              <a:solidFill>
                <a:srgbClr val="5A6E8C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D4F91"/>
          </a:solidFill>
          <a:ln>
            <a:solidFill>
              <a:srgbClr val="1D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2880" y="6611112"/>
            <a:ext cx="1109167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 dirty="0">
                <a:solidFill>
                  <a:srgbClr val="75AADB"/>
                </a:solidFill>
                <a:latin typeface="Calibri"/>
              </a:rPr>
              <a:t>P9380: Advanced Public Health GIS  |  Columbia University Mailman School of Public Health  |  Spring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69190" y="6537960"/>
            <a:ext cx="42832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lang="en-US" sz="900" b="0" i="0" dirty="0">
                <a:solidFill>
                  <a:srgbClr val="5A6E8C"/>
                </a:solidFill>
                <a:latin typeface="Calibri"/>
              </a:rPr>
              <a:t>2</a:t>
            </a:r>
            <a:r>
              <a:rPr sz="900" b="0" i="0" dirty="0">
                <a:solidFill>
                  <a:srgbClr val="5A6E8C"/>
                </a:solidFill>
                <a:latin typeface="Calibri"/>
              </a:rPr>
              <a:t>/ 1</a:t>
            </a:r>
            <a:r>
              <a:rPr lang="en-US" sz="900" b="0" i="0" dirty="0">
                <a:solidFill>
                  <a:srgbClr val="5A6E8C"/>
                </a:solidFill>
                <a:latin typeface="Calibri"/>
              </a:rPr>
              <a:t>2</a:t>
            </a:r>
            <a:endParaRPr sz="900" b="0" i="0" dirty="0">
              <a:solidFill>
                <a:srgbClr val="5A6E8C"/>
              </a:solidFill>
              <a:latin typeface="Calibri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2BC668C-542A-315A-F02E-AE814D87B7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274"/>
          <a:stretch>
            <a:fillRect/>
          </a:stretch>
        </p:blipFill>
        <p:spPr>
          <a:xfrm>
            <a:off x="6139812" y="1556866"/>
            <a:ext cx="6049013" cy="329734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B6AA15F-9E50-B183-217A-EB0C9632B040}"/>
              </a:ext>
            </a:extLst>
          </p:cNvPr>
          <p:cNvSpPr txBox="1"/>
          <p:nvPr/>
        </p:nvSpPr>
        <p:spPr>
          <a:xfrm>
            <a:off x="9006840" y="5266998"/>
            <a:ext cx="302037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 i="1" dirty="0">
                <a:solidFill>
                  <a:srgbClr val="5A6E8C"/>
                </a:solidFill>
                <a:latin typeface="Calibri"/>
              </a:rPr>
              <a:t>Figure </a:t>
            </a:r>
            <a:r>
              <a:rPr lang="en-US" sz="900" b="0" i="1" dirty="0">
                <a:solidFill>
                  <a:srgbClr val="5A6E8C"/>
                </a:solidFill>
                <a:latin typeface="Calibri"/>
              </a:rPr>
              <a:t>2. Study Area.</a:t>
            </a:r>
            <a:r>
              <a:rPr sz="900" b="0" i="1" dirty="0">
                <a:solidFill>
                  <a:srgbClr val="5A6E8C"/>
                </a:solidFill>
                <a:latin typeface="Calibri"/>
              </a:rPr>
              <a:t> [</a:t>
            </a:r>
            <a:r>
              <a:rPr lang="en-US" sz="900" i="1" dirty="0">
                <a:solidFill>
                  <a:srgbClr val="5A6E8C"/>
                </a:solidFill>
                <a:latin typeface="Calibri"/>
              </a:rPr>
              <a:t>Bangladesh</a:t>
            </a:r>
            <a:r>
              <a:rPr lang="en-US" sz="900" b="0" i="1" dirty="0">
                <a:solidFill>
                  <a:srgbClr val="5A6E8C"/>
                </a:solidFill>
                <a:latin typeface="Calibri"/>
              </a:rPr>
              <a:t>, </a:t>
            </a:r>
            <a:r>
              <a:rPr lang="en-US" sz="900" i="1" dirty="0">
                <a:solidFill>
                  <a:srgbClr val="5A6E8C"/>
                </a:solidFill>
                <a:latin typeface="Calibri"/>
              </a:rPr>
              <a:t>GADM boundaries</a:t>
            </a:r>
            <a:r>
              <a:rPr sz="900" b="0" i="1" dirty="0">
                <a:solidFill>
                  <a:srgbClr val="5A6E8C"/>
                </a:solidFill>
                <a:latin typeface="Calibri"/>
              </a:rPr>
              <a:t>, </a:t>
            </a:r>
            <a:r>
              <a:rPr lang="en-US" sz="900" b="0" i="1" dirty="0">
                <a:solidFill>
                  <a:srgbClr val="5A6E8C"/>
                </a:solidFill>
                <a:latin typeface="Calibri"/>
              </a:rPr>
              <a:t>2022</a:t>
            </a:r>
            <a:r>
              <a:rPr sz="900" b="0" i="1" dirty="0">
                <a:solidFill>
                  <a:srgbClr val="5A6E8C"/>
                </a:solidFill>
                <a:latin typeface="Calibri"/>
              </a:rPr>
              <a:t>].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0" grpId="0" animBg="1"/>
      <p:bldP spid="11" grpId="0"/>
      <p:bldP spid="12" grpId="0"/>
      <p:bldP spid="13" grpId="0"/>
      <p:bldP spid="14" grpId="0"/>
      <p:bldP spid="17" grpId="0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D4F91"/>
          </a:solidFill>
          <a:ln>
            <a:solidFill>
              <a:srgbClr val="1D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75AADB"/>
                </a:solidFill>
                <a:latin typeface="Calibri"/>
              </a:rPr>
              <a:t>Section II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79"/>
            <a:ext cx="3566160" cy="4663439"/>
          </a:xfrm>
          <a:prstGeom prst="rect">
            <a:avLst/>
          </a:prstGeom>
          <a:solidFill>
            <a:srgbClr val="F0F4FA"/>
          </a:solidFill>
          <a:ln w="9525">
            <a:solidFill>
              <a:srgbClr val="008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3566160" cy="73152"/>
          </a:xfrm>
          <a:prstGeom prst="rect">
            <a:avLst/>
          </a:prstGeom>
          <a:solidFill>
            <a:srgbClr val="008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225295"/>
            <a:ext cx="215058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 dirty="0">
                <a:solidFill>
                  <a:srgbClr val="0D2B5C"/>
                </a:solidFill>
                <a:latin typeface="Calibri"/>
              </a:rPr>
              <a:t>Theoretical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505" y="2087917"/>
            <a:ext cx="3346704" cy="2667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b="0" u="sng" dirty="0">
                <a:solidFill>
                  <a:schemeClr val="tx2"/>
                </a:solidFill>
              </a:rPr>
              <a:t>Environmental justice framework: </a:t>
            </a:r>
            <a:r>
              <a:rPr lang="en-US" sz="1400" b="0" i="1" dirty="0">
                <a:solidFill>
                  <a:schemeClr val="tx2"/>
                </a:solidFill>
              </a:rPr>
              <a:t>The burden of environmental hazards is not randomly distributed</a:t>
            </a:r>
          </a:p>
          <a:p>
            <a:pPr marL="285750" indent="-285750" algn="l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2"/>
              </a:solidFill>
            </a:endParaRPr>
          </a:p>
          <a:p>
            <a:pPr marL="285750" indent="-285750" algn="l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2"/>
              </a:solidFill>
            </a:endParaRPr>
          </a:p>
          <a:p>
            <a:pPr marL="285750" indent="-285750" algn="l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2"/>
              </a:solidFill>
            </a:endParaRPr>
          </a:p>
          <a:p>
            <a:pPr marL="285750" indent="-285750" algn="l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b="0" u="sng" dirty="0">
                <a:solidFill>
                  <a:schemeClr val="tx2"/>
                </a:solidFill>
              </a:rPr>
              <a:t>Climate exposure is heterogenous:  </a:t>
            </a:r>
            <a:r>
              <a:rPr lang="en-US" sz="1400" b="0" i="1" dirty="0">
                <a:solidFill>
                  <a:schemeClr val="tx2"/>
                </a:solidFill>
              </a:rPr>
              <a:t>Heat risk </a:t>
            </a:r>
            <a:r>
              <a:rPr lang="en-US" sz="1400" i="1" dirty="0">
                <a:solidFill>
                  <a:schemeClr val="tx2"/>
                </a:solidFill>
              </a:rPr>
              <a:t>is </a:t>
            </a:r>
            <a:r>
              <a:rPr lang="en-US" sz="1400" b="0" i="1" dirty="0">
                <a:solidFill>
                  <a:schemeClr val="tx2"/>
                </a:solidFill>
              </a:rPr>
              <a:t>shaped by the interaction of physical geography and socioeconomic structure that cannot be shown by one single metric</a:t>
            </a:r>
            <a:r>
              <a:rPr lang="en-US" sz="1400" i="1" dirty="0">
                <a:solidFill>
                  <a:schemeClr val="tx2"/>
                </a:solidFill>
              </a:rPr>
              <a:t> or map</a:t>
            </a:r>
            <a:endParaRPr sz="1400" b="0" i="1" dirty="0">
              <a:solidFill>
                <a:schemeClr val="tx2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297680" y="1097280"/>
            <a:ext cx="3566160" cy="4663440"/>
          </a:xfrm>
          <a:prstGeom prst="rect">
            <a:avLst/>
          </a:prstGeom>
          <a:solidFill>
            <a:srgbClr val="F0F4FA"/>
          </a:solidFill>
          <a:ln w="9525">
            <a:solidFill>
              <a:srgbClr val="008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1097280"/>
            <a:ext cx="3566160" cy="73152"/>
          </a:xfrm>
          <a:prstGeom prst="rect">
            <a:avLst/>
          </a:prstGeom>
          <a:solidFill>
            <a:srgbClr val="008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07408" y="1187195"/>
            <a:ext cx="323934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 dirty="0">
                <a:solidFill>
                  <a:srgbClr val="0D2B5C"/>
                </a:solidFill>
                <a:latin typeface="Calibri"/>
              </a:rPr>
              <a:t>Key Evidence</a:t>
            </a:r>
            <a:r>
              <a:rPr lang="en-US" sz="1600" b="1" i="0" dirty="0">
                <a:solidFill>
                  <a:srgbClr val="0D2B5C"/>
                </a:solidFill>
                <a:latin typeface="Calibri"/>
              </a:rPr>
              <a:t> </a:t>
            </a:r>
            <a:r>
              <a:rPr sz="1600" b="1" i="0" dirty="0">
                <a:solidFill>
                  <a:srgbClr val="0D2B5C"/>
                </a:solidFill>
                <a:latin typeface="Calibri"/>
              </a:rPr>
              <a:t> from the Literature</a:t>
            </a:r>
            <a:r>
              <a:rPr lang="en-US" sz="1600" b="1" i="0" dirty="0">
                <a:solidFill>
                  <a:srgbClr val="0D2B5C"/>
                </a:solidFill>
                <a:latin typeface="Calibri"/>
              </a:rPr>
              <a:t>    </a:t>
            </a:r>
            <a:endParaRPr sz="1600" b="1" i="0" dirty="0">
              <a:solidFill>
                <a:srgbClr val="0D2B5C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28069" y="1642687"/>
            <a:ext cx="3566160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400" dirty="0">
                <a:solidFill>
                  <a:schemeClr val="tx2"/>
                </a:solidFill>
              </a:rPr>
              <a:t>Heat risk is socially unequal [3]</a:t>
            </a:r>
          </a:p>
          <a:p>
            <a:pPr marL="285750" indent="-285750" algn="l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chemeClr val="tx2"/>
                </a:solidFill>
              </a:rPr>
              <a:t>Impacts are worst where adaptive capacity is lowest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400" dirty="0">
                <a:solidFill>
                  <a:schemeClr val="tx2"/>
                </a:solidFill>
              </a:rPr>
              <a:t>Climate change reinforces inequality [4]</a:t>
            </a:r>
          </a:p>
          <a:p>
            <a:pPr marL="285750" indent="-285750" algn="l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chemeClr val="tx2"/>
                </a:solidFill>
              </a:rPr>
              <a:t>Historical warming increased global inequality by ~25%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400" dirty="0">
                <a:solidFill>
                  <a:schemeClr val="tx2"/>
                </a:solidFill>
              </a:rPr>
              <a:t>South Asia is a global hotspot [5]</a:t>
            </a:r>
          </a:p>
          <a:p>
            <a:pPr marL="285750" indent="-285750" algn="l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chemeClr val="tx2"/>
                </a:solidFill>
              </a:rPr>
              <a:t>Region records highest frequency of extreme heat events between 1900 and 2023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400" dirty="0">
                <a:solidFill>
                  <a:schemeClr val="tx2"/>
                </a:solidFill>
              </a:rPr>
              <a:t>Heat vulnerability is spatially clustered [6]</a:t>
            </a:r>
          </a:p>
          <a:p>
            <a:pPr marL="285750" indent="-285750" algn="l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chemeClr val="tx2"/>
                </a:solidFill>
              </a:rPr>
              <a:t>Evidence of high-high clusters in urban heat vulnerability</a:t>
            </a:r>
          </a:p>
          <a:p>
            <a:pPr marL="285750" indent="-285750" algn="l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chemeClr val="tx2"/>
                </a:solidFill>
              </a:rPr>
              <a:t>Spatial autocorrelation detected using Moran’s I</a:t>
            </a:r>
          </a:p>
          <a:p>
            <a:pPr marL="285750" indent="-285750" algn="l">
              <a:spcBef>
                <a:spcPts val="0"/>
              </a:spcBef>
              <a:spcAft>
                <a:spcPts val="400"/>
              </a:spcAft>
              <a:buFontTx/>
              <a:buChar char="-"/>
            </a:pPr>
            <a:endParaRPr lang="en-US" sz="1400" i="1" dirty="0">
              <a:solidFill>
                <a:schemeClr val="tx2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138160" y="1097280"/>
            <a:ext cx="3566160" cy="4663438"/>
          </a:xfrm>
          <a:prstGeom prst="rect">
            <a:avLst/>
          </a:prstGeom>
          <a:solidFill>
            <a:srgbClr val="F0F4FA"/>
          </a:solidFill>
          <a:ln w="9525">
            <a:solidFill>
              <a:srgbClr val="008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8138160" y="1097280"/>
            <a:ext cx="3566160" cy="73152"/>
          </a:xfrm>
          <a:prstGeom prst="rect">
            <a:avLst/>
          </a:prstGeom>
          <a:solidFill>
            <a:srgbClr val="008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225295"/>
            <a:ext cx="184986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 dirty="0">
                <a:solidFill>
                  <a:srgbClr val="0D2B5C"/>
                </a:solidFill>
                <a:latin typeface="Calibri"/>
              </a:rPr>
              <a:t>Gap &amp; Contribution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511" y="1801368"/>
            <a:ext cx="3714016" cy="44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Prior studies map static heat vulnerability snapshots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2"/>
              </a:solidFill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Limited use of longitudinal satellite-based district trends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2"/>
              </a:solidFill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Few analyses look at the divergence between current exposure and future warming trajectories across Bangladeshi districts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2"/>
              </a:solidFill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Could help determine whether adaptation resources are being directed towards the right places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sz="1400" i="1" dirty="0">
              <a:solidFill>
                <a:schemeClr val="tx2"/>
              </a:solidFill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sz="1400" i="1" dirty="0">
              <a:solidFill>
                <a:schemeClr val="tx2"/>
              </a:solidFill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sz="1400" i="1" dirty="0">
              <a:solidFill>
                <a:schemeClr val="tx2"/>
              </a:solidFill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sz="1400" i="1" dirty="0">
              <a:solidFill>
                <a:schemeClr val="tx2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D4F91"/>
          </a:solidFill>
          <a:ln>
            <a:solidFill>
              <a:srgbClr val="1D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2880" y="6611112"/>
            <a:ext cx="1109167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75AADB"/>
                </a:solidFill>
                <a:latin typeface="Calibri"/>
              </a:rPr>
              <a:t>P9380: Advanced Public Health GIS  |  Columbia University Mailman School of Public Health  |  Spring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43542" y="6537960"/>
            <a:ext cx="45397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lang="en-US" sz="900" b="0" i="0" dirty="0">
                <a:solidFill>
                  <a:srgbClr val="5A6E8C"/>
                </a:solidFill>
                <a:latin typeface="Calibri"/>
              </a:rPr>
              <a:t>3</a:t>
            </a:r>
            <a:r>
              <a:rPr sz="900" b="0" i="0" dirty="0">
                <a:solidFill>
                  <a:srgbClr val="5A6E8C"/>
                </a:solidFill>
                <a:latin typeface="Calibri"/>
              </a:rPr>
              <a:t> / 1</a:t>
            </a:r>
            <a:r>
              <a:rPr lang="en-US" sz="900" b="0" i="0" dirty="0">
                <a:solidFill>
                  <a:srgbClr val="5A6E8C"/>
                </a:solidFill>
                <a:latin typeface="Calibri"/>
              </a:rPr>
              <a:t>2</a:t>
            </a:r>
            <a:endParaRPr sz="900" b="0" i="0" dirty="0">
              <a:solidFill>
                <a:srgbClr val="5A6E8C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 animBg="1"/>
      <p:bldP spid="7" grpId="0" animBg="1"/>
      <p:bldP spid="8" grpId="0"/>
      <p:bldP spid="9" grpId="0"/>
      <p:bldP spid="10" grpId="0" animBg="1"/>
      <p:bldP spid="11" grpId="0" animBg="1"/>
      <p:bldP spid="12" grpId="0"/>
      <p:bldP spid="13" grpId="0"/>
      <p:bldP spid="14" grpId="0" animBg="1"/>
      <p:bldP spid="15" grpId="0" animBg="1"/>
      <p:bldP spid="16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2294" y="82917"/>
            <a:ext cx="12188952" cy="960120"/>
          </a:xfrm>
          <a:prstGeom prst="rect">
            <a:avLst/>
          </a:prstGeom>
          <a:solidFill>
            <a:srgbClr val="1D4F91"/>
          </a:solidFill>
          <a:ln>
            <a:solidFill>
              <a:srgbClr val="1D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Methods: Data &amp; Study Area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75AADB"/>
                </a:solidFill>
                <a:latin typeface="Calibri"/>
              </a:rPr>
              <a:t>Section III  |  Part 1 of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5503423"/>
            <a:ext cx="46162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 dirty="0">
                <a:solidFill>
                  <a:schemeClr val="tx2"/>
                </a:solidFill>
                <a:latin typeface="Calibri"/>
              </a:rPr>
              <a:t>Spatial Weights: </a:t>
            </a:r>
            <a:endParaRPr lang="en-US" sz="1100" dirty="0">
              <a:solidFill>
                <a:schemeClr val="tx2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100" dirty="0">
                <a:solidFill>
                  <a:schemeClr val="tx2"/>
                </a:solidFill>
                <a:latin typeface="Calibri"/>
              </a:rPr>
              <a:t>Bivariate LISA: Queen contiguity via </a:t>
            </a:r>
            <a:r>
              <a:rPr lang="en-US" sz="1100" i="1" dirty="0" err="1">
                <a:solidFill>
                  <a:schemeClr val="tx2"/>
                </a:solidFill>
                <a:latin typeface="Calibri"/>
              </a:rPr>
              <a:t>rgeoda:queen_weights</a:t>
            </a:r>
            <a:r>
              <a:rPr lang="en-US" sz="1100" i="1" dirty="0">
                <a:solidFill>
                  <a:schemeClr val="tx2"/>
                </a:solidFill>
                <a:latin typeface="Calibri"/>
              </a:rPr>
              <a:t>()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100" b="0" i="0" dirty="0">
                <a:solidFill>
                  <a:schemeClr val="tx2"/>
                </a:solidFill>
                <a:latin typeface="Calibri"/>
              </a:rPr>
              <a:t>EHSA: Queen contiguity via </a:t>
            </a:r>
            <a:r>
              <a:rPr lang="en-US" sz="1100" b="0" i="1" dirty="0" err="1">
                <a:solidFill>
                  <a:schemeClr val="tx2"/>
                </a:solidFill>
                <a:latin typeface="Calibri"/>
              </a:rPr>
              <a:t>sfdep</a:t>
            </a:r>
            <a:r>
              <a:rPr lang="en-US" sz="1100" i="1" dirty="0" err="1">
                <a:solidFill>
                  <a:schemeClr val="tx2"/>
                </a:solidFill>
                <a:latin typeface="Calibri"/>
              </a:rPr>
              <a:t>:st_contiguity</a:t>
            </a:r>
            <a:r>
              <a:rPr lang="en-US" sz="1100" i="1" dirty="0">
                <a:solidFill>
                  <a:schemeClr val="tx2"/>
                </a:solidFill>
                <a:latin typeface="Calibri"/>
              </a:rPr>
              <a:t>()</a:t>
            </a:r>
            <a:endParaRPr lang="en-US" sz="1100" b="0" i="1" dirty="0">
              <a:solidFill>
                <a:schemeClr val="tx2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100" dirty="0">
                <a:solidFill>
                  <a:schemeClr val="tx2"/>
                </a:solidFill>
                <a:latin typeface="Calibri"/>
              </a:rPr>
              <a:t>BYM2: Binary adjacency matrix via </a:t>
            </a:r>
            <a:r>
              <a:rPr lang="en-US" sz="1100" i="1" dirty="0">
                <a:solidFill>
                  <a:schemeClr val="tx2"/>
                </a:solidFill>
                <a:latin typeface="Calibri"/>
              </a:rPr>
              <a:t>nb2mat()</a:t>
            </a:r>
            <a:endParaRPr sz="1100" b="0" i="1" dirty="0">
              <a:solidFill>
                <a:schemeClr val="tx2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78192" y="5975598"/>
            <a:ext cx="3967753" cy="4206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 i="1" dirty="0">
                <a:solidFill>
                  <a:srgbClr val="5A6E8C"/>
                </a:solidFill>
                <a:latin typeface="Calibri"/>
              </a:rPr>
              <a:t>Figure</a:t>
            </a:r>
            <a:r>
              <a:rPr lang="en-US" sz="900" b="0" i="1" dirty="0">
                <a:solidFill>
                  <a:srgbClr val="5A6E8C"/>
                </a:solidFill>
                <a:latin typeface="Calibri"/>
              </a:rPr>
              <a:t> 3</a:t>
            </a:r>
            <a:r>
              <a:rPr lang="en-US" sz="900" i="1" dirty="0">
                <a:solidFill>
                  <a:srgbClr val="5A6E8C"/>
                </a:solidFill>
                <a:latin typeface="Calibri"/>
              </a:rPr>
              <a:t>. Mean extreme heat exposure by district in Bangladesh. 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lang="en-US" sz="900" i="1" dirty="0">
                <a:solidFill>
                  <a:srgbClr val="5A6E8C"/>
                </a:solidFill>
                <a:latin typeface="Calibri"/>
              </a:rPr>
              <a:t>Data: NASA SEDAC GEHE. Spatial Unit: 64 administrative districts (GADM Level 2)</a:t>
            </a:r>
            <a:endParaRPr sz="900" b="0" i="1" dirty="0">
              <a:solidFill>
                <a:srgbClr val="5A6E8C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D4F91"/>
          </a:solidFill>
          <a:ln>
            <a:solidFill>
              <a:srgbClr val="1D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" y="6611112"/>
            <a:ext cx="1109167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75AADB"/>
                </a:solidFill>
                <a:latin typeface="Calibri"/>
              </a:rPr>
              <a:t>P9380: Advanced Public Health GIS  |  Columbia University Mailman School of Public Health  |  Spring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43542" y="6537960"/>
            <a:ext cx="45397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lang="en-US" sz="900" b="0" i="0" dirty="0">
                <a:solidFill>
                  <a:srgbClr val="5A6E8C"/>
                </a:solidFill>
                <a:latin typeface="Calibri"/>
              </a:rPr>
              <a:t>4</a:t>
            </a:r>
            <a:r>
              <a:rPr sz="900" b="0" i="0" dirty="0">
                <a:solidFill>
                  <a:srgbClr val="5A6E8C"/>
                </a:solidFill>
                <a:latin typeface="Calibri"/>
              </a:rPr>
              <a:t> / 1</a:t>
            </a:r>
            <a:r>
              <a:rPr lang="en-US" sz="900" b="0" i="0" dirty="0">
                <a:solidFill>
                  <a:srgbClr val="5A6E8C"/>
                </a:solidFill>
                <a:latin typeface="Calibri"/>
              </a:rPr>
              <a:t>2</a:t>
            </a:r>
            <a:endParaRPr sz="900" b="0" i="0" dirty="0">
              <a:solidFill>
                <a:srgbClr val="5A6E8C"/>
              </a:solidFill>
              <a:latin typeface="Calibri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2BBB54A-ACBE-4F05-C8FC-D2168CDCED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427204"/>
              </p:ext>
            </p:extLst>
          </p:nvPr>
        </p:nvGraphicFramePr>
        <p:xfrm>
          <a:off x="163586" y="1218252"/>
          <a:ext cx="6509733" cy="4221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7433">
                  <a:extLst>
                    <a:ext uri="{9D8B030D-6E8A-4147-A177-3AD203B41FA5}">
                      <a16:colId xmlns:a16="http://schemas.microsoft.com/office/drawing/2014/main" val="3334286433"/>
                    </a:ext>
                  </a:extLst>
                </a:gridCol>
                <a:gridCol w="1627433">
                  <a:extLst>
                    <a:ext uri="{9D8B030D-6E8A-4147-A177-3AD203B41FA5}">
                      <a16:colId xmlns:a16="http://schemas.microsoft.com/office/drawing/2014/main" val="2698113067"/>
                    </a:ext>
                  </a:extLst>
                </a:gridCol>
                <a:gridCol w="2206076">
                  <a:extLst>
                    <a:ext uri="{9D8B030D-6E8A-4147-A177-3AD203B41FA5}">
                      <a16:colId xmlns:a16="http://schemas.microsoft.com/office/drawing/2014/main" val="1587986437"/>
                    </a:ext>
                  </a:extLst>
                </a:gridCol>
                <a:gridCol w="1048791">
                  <a:extLst>
                    <a:ext uri="{9D8B030D-6E8A-4147-A177-3AD203B41FA5}">
                      <a16:colId xmlns:a16="http://schemas.microsoft.com/office/drawing/2014/main" val="2010284145"/>
                    </a:ext>
                  </a:extLst>
                </a:gridCol>
              </a:tblGrid>
              <a:tr h="6668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+mn-lt"/>
                        </a:rPr>
                        <a:t>Data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+mn-lt"/>
                        </a:rPr>
                        <a:t>Variable(s)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+mn-lt"/>
                        </a:rPr>
                        <a:t>Spatial Unit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+mn-lt"/>
                        </a:rPr>
                        <a:t>Year(s)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844542"/>
                  </a:ext>
                </a:extLst>
              </a:tr>
              <a:tr h="66681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/>
                        <a:t>NASA SEDAC Global Extreme Heat Events (GEHE) </a:t>
                      </a:r>
                      <a:r>
                        <a:rPr lang="en-US" sz="1200" i="1" dirty="0"/>
                        <a:t>[7] [8]</a:t>
                      </a:r>
                      <a:endParaRPr sz="1200" b="1" i="1" dirty="0">
                        <a:solidFill>
                          <a:srgbClr val="0D2B5C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>
                          <a:latin typeface="+mn-lt"/>
                        </a:rPr>
                        <a:t>Days above WBGTmax28°C threshold</a:t>
                      </a:r>
                      <a:endParaRPr sz="1200" b="0" dirty="0">
                        <a:solidFill>
                          <a:srgbClr val="1A264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>
                          <a:latin typeface="+mn-lt"/>
                        </a:rPr>
                        <a:t>Raster (~4.6km pixel)</a:t>
                      </a:r>
                      <a:endParaRPr sz="1200" b="0" dirty="0">
                        <a:solidFill>
                          <a:srgbClr val="1A264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1983–2016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071850"/>
                  </a:ext>
                </a:extLst>
              </a:tr>
              <a:tr h="66681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/>
                        <a:t>Meta / Facebook Relative Wealth Index </a:t>
                      </a:r>
                      <a:r>
                        <a:rPr lang="en-US" sz="1200" i="1" dirty="0"/>
                        <a:t>[9]</a:t>
                      </a:r>
                      <a:endParaRPr sz="1200" b="1" i="1" dirty="0">
                        <a:solidFill>
                          <a:srgbClr val="0D2B5C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>
                          <a:latin typeface="+mn-lt"/>
                        </a:rPr>
                        <a:t>Relative Wealth Index (RWI) score</a:t>
                      </a:r>
                      <a:endParaRPr sz="1200" b="0" dirty="0">
                        <a:solidFill>
                          <a:srgbClr val="1A264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>
                          <a:latin typeface="+mn-lt"/>
                        </a:rPr>
                        <a:t>Point → aggregated to district</a:t>
                      </a:r>
                      <a:endParaRPr sz="1200" b="0" dirty="0">
                        <a:solidFill>
                          <a:srgbClr val="1A264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2021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5061128"/>
                  </a:ext>
                </a:extLst>
              </a:tr>
              <a:tr h="476293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/>
                        <a:t>SRTM via NASA (geodata) </a:t>
                      </a:r>
                      <a:r>
                        <a:rPr lang="en-US" sz="1200" i="1" dirty="0"/>
                        <a:t>[10]</a:t>
                      </a:r>
                      <a:endParaRPr sz="1200" b="1" i="1" dirty="0">
                        <a:solidFill>
                          <a:srgbClr val="0D2B5C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>
                          <a:latin typeface="+mn-lt"/>
                        </a:rPr>
                        <a:t>Mean elevation &amp; Distance to Coast (meters)</a:t>
                      </a:r>
                      <a:endParaRPr sz="1200" b="0" dirty="0">
                        <a:solidFill>
                          <a:srgbClr val="1A264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>
                          <a:latin typeface="+mn-lt"/>
                        </a:rPr>
                        <a:t>Raster (1km) → aggregated to district</a:t>
                      </a:r>
                      <a:endParaRPr sz="1200" b="0" dirty="0">
                        <a:solidFill>
                          <a:srgbClr val="1A264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2000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837250"/>
                  </a:ext>
                </a:extLst>
              </a:tr>
              <a:tr h="476293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/>
                        <a:t>GPWv4 NASA SEDAC </a:t>
                      </a:r>
                      <a:r>
                        <a:rPr lang="en-US" sz="1200" i="1" dirty="0"/>
                        <a:t>[11]</a:t>
                      </a:r>
                      <a:endParaRPr sz="1200" b="1" i="1" dirty="0">
                        <a:solidFill>
                          <a:srgbClr val="0D2B5C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0" dirty="0">
                          <a:solidFill>
                            <a:srgbClr val="1A2640"/>
                          </a:solidFill>
                          <a:latin typeface="+mn-lt"/>
                        </a:rPr>
                        <a:t>Population count</a:t>
                      </a:r>
                      <a:endParaRPr sz="1200" b="0" dirty="0">
                        <a:solidFill>
                          <a:srgbClr val="1A264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>
                          <a:latin typeface="+mn-lt"/>
                        </a:rPr>
                        <a:t>Raster (2.5 arc-min) → aggregated to district</a:t>
                      </a:r>
                      <a:endParaRPr sz="1200" b="0" dirty="0">
                        <a:solidFill>
                          <a:srgbClr val="1A264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2015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664462"/>
                  </a:ext>
                </a:extLst>
              </a:tr>
              <a:tr h="476293">
                <a:tc>
                  <a:txBody>
                    <a:bodyPr/>
                    <a:lstStyle/>
                    <a:p>
                      <a:r>
                        <a:rPr lang="en-US" sz="1200" dirty="0"/>
                        <a:t>GADM v4.1 </a:t>
                      </a:r>
                      <a:r>
                        <a:rPr lang="en-US" sz="1200" i="1" dirty="0"/>
                        <a:t>[12]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Administrative Boundaries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Polygon (district, level 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2022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990650"/>
                  </a:ext>
                </a:extLst>
              </a:tr>
              <a:tr h="314000">
                <a:tc>
                  <a:txBody>
                    <a:bodyPr/>
                    <a:lstStyle/>
                    <a:p>
                      <a:r>
                        <a:rPr lang="en-US" sz="1200" dirty="0"/>
                        <a:t>Natural Earth </a:t>
                      </a:r>
                      <a:r>
                        <a:rPr lang="en-US" sz="1200" i="1" dirty="0"/>
                        <a:t>[13]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Country boundaries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Polygon (country)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822717"/>
                  </a:ext>
                </a:extLst>
              </a:tr>
              <a:tr h="314000">
                <a:tc>
                  <a:txBody>
                    <a:bodyPr/>
                    <a:lstStyle/>
                    <a:p>
                      <a:r>
                        <a:rPr lang="en-US" sz="1200" dirty="0"/>
                        <a:t>World Bank </a:t>
                      </a:r>
                      <a:r>
                        <a:rPr lang="en-US" sz="1200" i="1" dirty="0"/>
                        <a:t>[14]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GDP per capita (US)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2019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1725559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999CFD43-BB04-9D73-2A1A-9E59D1C6B5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06" t="4547" r="1972"/>
          <a:stretch>
            <a:fillRect/>
          </a:stretch>
        </p:blipFill>
        <p:spPr>
          <a:xfrm>
            <a:off x="7264039" y="1329908"/>
            <a:ext cx="4230688" cy="46423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6DD231-CF8D-6EE6-3E23-72EC414A0C78}"/>
              </a:ext>
            </a:extLst>
          </p:cNvPr>
          <p:cNvSpPr txBox="1"/>
          <p:nvPr/>
        </p:nvSpPr>
        <p:spPr>
          <a:xfrm>
            <a:off x="7412854" y="1043037"/>
            <a:ext cx="4230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Mean Days Above WGBTmax28°C threshold (1983-2016)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27" y="8410"/>
            <a:ext cx="12188952" cy="960120"/>
          </a:xfrm>
          <a:prstGeom prst="rect">
            <a:avLst/>
          </a:prstGeom>
          <a:solidFill>
            <a:srgbClr val="1D4F91"/>
          </a:solidFill>
          <a:ln>
            <a:solidFill>
              <a:srgbClr val="1D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Methods: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75AADB"/>
                </a:solidFill>
                <a:latin typeface="Calibri"/>
              </a:rPr>
              <a:t>Section III  |  Part 2 of 3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59"/>
            <a:ext cx="3566160" cy="5271671"/>
          </a:xfrm>
          <a:prstGeom prst="rect">
            <a:avLst/>
          </a:prstGeom>
          <a:solidFill>
            <a:srgbClr val="F0F4FA"/>
          </a:solidFill>
          <a:ln w="12700">
            <a:solidFill>
              <a:srgbClr val="1D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411480" y="1051560"/>
            <a:ext cx="3566160" cy="91440"/>
          </a:xfrm>
          <a:prstGeom prst="rect">
            <a:avLst/>
          </a:prstGeom>
          <a:solidFill>
            <a:srgbClr val="1D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1208" y="1188719"/>
            <a:ext cx="96802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600" b="1" i="0" dirty="0">
                <a:solidFill>
                  <a:srgbClr val="0D2B5C"/>
                </a:solidFill>
                <a:latin typeface="Calibri"/>
              </a:rPr>
              <a:t>Outcome</a:t>
            </a:r>
            <a:endParaRPr sz="1600" b="1" i="0" dirty="0">
              <a:solidFill>
                <a:srgbClr val="0D2B5C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21208" y="1581912"/>
            <a:ext cx="3346704" cy="27432"/>
          </a:xfrm>
          <a:prstGeom prst="rect">
            <a:avLst/>
          </a:prstGeom>
          <a:solidFill>
            <a:srgbClr val="1D4F91"/>
          </a:solidFill>
          <a:ln>
            <a:solidFill>
              <a:srgbClr val="1D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8145" y="1584452"/>
            <a:ext cx="3346704" cy="4934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lang="en-US" sz="1400" b="1" u="sng" dirty="0">
                <a:solidFill>
                  <a:schemeClr val="tx2"/>
                </a:solidFill>
                <a:latin typeface="Calibri"/>
              </a:rPr>
              <a:t>Heat Exposure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chemeClr val="tx2"/>
                </a:solidFill>
                <a:latin typeface="Calibri"/>
              </a:rPr>
              <a:t>Outcome: WGBT </a:t>
            </a:r>
            <a:r>
              <a:rPr lang="en-US" sz="1400" i="1" dirty="0">
                <a:solidFill>
                  <a:schemeClr val="tx2"/>
                </a:solidFill>
              </a:rPr>
              <a:t>&gt; 28°C days/year</a:t>
            </a:r>
            <a:r>
              <a:rPr lang="en-US" sz="1400" i="1" dirty="0">
                <a:solidFill>
                  <a:schemeClr val="tx2"/>
                </a:solidFill>
                <a:latin typeface="Calibri"/>
              </a:rPr>
              <a:t> (a measure of dangerous, hot-humid conditions)</a:t>
            </a:r>
          </a:p>
          <a:p>
            <a:pPr marL="171450" indent="-171450" algn="l"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chemeClr val="tx2"/>
                </a:solidFill>
                <a:latin typeface="Calibri"/>
              </a:rPr>
              <a:t>Distribution: Continuous, ranging from 59.7 to 183.4 days/year </a:t>
            </a:r>
          </a:p>
          <a:p>
            <a:pPr marL="171450" indent="-171450" algn="l"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b="0" i="1" dirty="0">
                <a:solidFill>
                  <a:schemeClr val="tx2"/>
                </a:solidFill>
                <a:latin typeface="Calibri"/>
              </a:rPr>
              <a:t>Pixel-level raster values extracted and averaged to district level </a:t>
            </a:r>
            <a:endParaRPr lang="en-US" sz="1400" i="1" dirty="0">
              <a:solidFill>
                <a:schemeClr val="tx2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lang="en-US" sz="1400" b="1" u="sng" dirty="0">
                <a:solidFill>
                  <a:schemeClr val="tx2"/>
                </a:solidFill>
                <a:latin typeface="Calibri"/>
              </a:rPr>
              <a:t>Warming Trend</a:t>
            </a:r>
          </a:p>
          <a:p>
            <a:pPr marL="171450" indent="-171450" algn="l"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chemeClr val="tx2"/>
                </a:solidFill>
                <a:latin typeface="Calibri"/>
              </a:rPr>
              <a:t>Outcome: change in heat days over time</a:t>
            </a:r>
          </a:p>
          <a:p>
            <a:pPr marL="171450" indent="-171450" algn="l"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b="0" i="1" dirty="0">
                <a:solidFill>
                  <a:schemeClr val="tx2"/>
                </a:solidFill>
                <a:latin typeface="Calibri"/>
              </a:rPr>
              <a:t>Definition: OLS slope coefficient from linear regression of annual heat days on time</a:t>
            </a:r>
          </a:p>
          <a:p>
            <a:pPr marL="171450" indent="-171450" algn="l"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b="0" i="1" dirty="0">
                <a:solidFill>
                  <a:schemeClr val="tx2"/>
                </a:solidFill>
                <a:latin typeface="Calibri"/>
              </a:rPr>
              <a:t>Distribution: Continuous, rangin</a:t>
            </a:r>
            <a:r>
              <a:rPr lang="en-US" sz="1400" i="1" dirty="0">
                <a:solidFill>
                  <a:schemeClr val="tx2"/>
                </a:solidFill>
                <a:latin typeface="Calibri"/>
              </a:rPr>
              <a:t>g from 0.894 to 1.424 days/year</a:t>
            </a:r>
          </a:p>
          <a:p>
            <a:pPr marL="171450" indent="-171450" algn="l"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chemeClr val="tx2"/>
                </a:solidFill>
                <a:latin typeface="Calibri"/>
              </a:rPr>
              <a:t>P</a:t>
            </a:r>
            <a:r>
              <a:rPr lang="en-US" sz="1400" b="0" i="1" dirty="0">
                <a:solidFill>
                  <a:schemeClr val="tx2"/>
                </a:solidFill>
                <a:latin typeface="Calibri"/>
              </a:rPr>
              <a:t>ixel-level slopes extracted and averaged to district level</a:t>
            </a:r>
          </a:p>
          <a:p>
            <a:pPr>
              <a:spcAft>
                <a:spcPts val="500"/>
              </a:spcAft>
            </a:pPr>
            <a:r>
              <a:rPr lang="en-US" sz="1050" i="1" dirty="0">
                <a:solidFill>
                  <a:schemeClr val="tx2"/>
                </a:solidFill>
              </a:rPr>
              <a:t>Source: NASA SEDAC Global Extreme Heat Events, 1983-2016</a:t>
            </a:r>
          </a:p>
          <a:p>
            <a:pPr marL="171450" indent="-171450" algn="l"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sz="1400" b="0" i="1" dirty="0">
              <a:solidFill>
                <a:schemeClr val="tx2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206240" y="1051560"/>
            <a:ext cx="3566160" cy="5271670"/>
          </a:xfrm>
          <a:prstGeom prst="rect">
            <a:avLst/>
          </a:prstGeom>
          <a:solidFill>
            <a:srgbClr val="F0F4FA"/>
          </a:solidFill>
          <a:ln w="12700">
            <a:solidFill>
              <a:srgbClr val="0D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06240" y="1051560"/>
            <a:ext cx="3566160" cy="91440"/>
          </a:xfrm>
          <a:prstGeom prst="rect">
            <a:avLst/>
          </a:prstGeom>
          <a:solidFill>
            <a:srgbClr val="0D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15968" y="1188719"/>
            <a:ext cx="104669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600" b="1" i="0" dirty="0">
                <a:solidFill>
                  <a:srgbClr val="0D2B5C"/>
                </a:solidFill>
                <a:latin typeface="Calibri"/>
              </a:rPr>
              <a:t>Predictors</a:t>
            </a:r>
            <a:endParaRPr sz="1600" b="1" i="0" dirty="0">
              <a:solidFill>
                <a:srgbClr val="0D2B5C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15968" y="1581912"/>
            <a:ext cx="3346704" cy="27432"/>
          </a:xfrm>
          <a:prstGeom prst="rect">
            <a:avLst/>
          </a:prstGeom>
          <a:solidFill>
            <a:srgbClr val="0D2B5C"/>
          </a:solidFill>
          <a:ln>
            <a:solidFill>
              <a:srgbClr val="0D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02905" y="2339588"/>
            <a:ext cx="3346704" cy="2695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lang="en-US" sz="1400" b="1" u="sng" dirty="0">
                <a:solidFill>
                  <a:schemeClr val="tx2"/>
                </a:solidFill>
                <a:latin typeface="Calibri"/>
              </a:rPr>
              <a:t>Key predictor of interest:</a:t>
            </a:r>
          </a:p>
          <a:p>
            <a:pPr marL="171450" indent="-171450" algn="l"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b="0" i="1" dirty="0">
                <a:solidFill>
                  <a:schemeClr val="tx2"/>
                </a:solidFill>
                <a:latin typeface="Calibri"/>
              </a:rPr>
              <a:t>Relative wealth index: </a:t>
            </a:r>
            <a:r>
              <a:rPr lang="en-US" sz="1400" i="1" dirty="0">
                <a:solidFill>
                  <a:schemeClr val="tx2"/>
                </a:solidFill>
                <a:latin typeface="Calibri"/>
              </a:rPr>
              <a:t>derived measure of economic status 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endParaRPr lang="en-US" sz="1400" b="1" u="sng" dirty="0">
              <a:solidFill>
                <a:schemeClr val="tx2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lang="en-US" sz="1400" b="1" u="sng" dirty="0">
                <a:solidFill>
                  <a:schemeClr val="tx2"/>
                </a:solidFill>
                <a:latin typeface="Calibri"/>
              </a:rPr>
              <a:t>Covariates </a:t>
            </a:r>
            <a:r>
              <a:rPr lang="en-US" sz="1400" i="1" dirty="0">
                <a:solidFill>
                  <a:schemeClr val="tx2"/>
                </a:solidFill>
                <a:latin typeface="Calibri"/>
              </a:rPr>
              <a:t>(all were z-score standardized)</a:t>
            </a:r>
          </a:p>
          <a:p>
            <a:pPr marL="171450" indent="-171450" algn="l"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b="0" i="1" dirty="0">
                <a:solidFill>
                  <a:schemeClr val="tx2"/>
                </a:solidFill>
                <a:latin typeface="Calibri"/>
              </a:rPr>
              <a:t>Mean elevation</a:t>
            </a:r>
            <a:endParaRPr lang="en-US" sz="1400" i="1" dirty="0">
              <a:solidFill>
                <a:schemeClr val="tx2"/>
              </a:solidFill>
              <a:latin typeface="Calibri"/>
            </a:endParaRPr>
          </a:p>
          <a:p>
            <a:pPr marL="171450" indent="-171450" algn="l"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chemeClr val="tx2"/>
                </a:solidFill>
                <a:latin typeface="Calibri"/>
              </a:rPr>
              <a:t>Distance to coast</a:t>
            </a:r>
          </a:p>
          <a:p>
            <a:pPr marL="171450" indent="-171450" algn="l"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b="0" i="1" dirty="0">
                <a:solidFill>
                  <a:schemeClr val="tx2"/>
                </a:solidFill>
                <a:latin typeface="Calibri"/>
              </a:rPr>
              <a:t>Population density</a:t>
            </a:r>
          </a:p>
          <a:p>
            <a:pPr marL="171450" indent="-171450" algn="l"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b="0" i="1" dirty="0">
                <a:solidFill>
                  <a:schemeClr val="tx2"/>
                </a:solidFill>
                <a:latin typeface="Calibri"/>
              </a:rPr>
              <a:t>No district-level healthcare access data was available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1051559"/>
            <a:ext cx="3566160" cy="5271669"/>
          </a:xfrm>
          <a:prstGeom prst="rect">
            <a:avLst/>
          </a:prstGeom>
          <a:solidFill>
            <a:srgbClr val="F0F4FA"/>
          </a:solidFill>
          <a:ln w="12700">
            <a:solidFill>
              <a:srgbClr val="C89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01000" y="1051560"/>
            <a:ext cx="3566160" cy="91440"/>
          </a:xfrm>
          <a:prstGeom prst="rect">
            <a:avLst/>
          </a:prstGeom>
          <a:solidFill>
            <a:srgbClr val="C89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10727" y="1188719"/>
            <a:ext cx="160390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D2B5C"/>
                </a:solidFill>
                <a:latin typeface="Calibri"/>
              </a:rPr>
              <a:t>Spatial Structure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10727" y="1581912"/>
            <a:ext cx="3346704" cy="27432"/>
          </a:xfrm>
          <a:prstGeom prst="rect">
            <a:avLst/>
          </a:prstGeom>
          <a:solidFill>
            <a:srgbClr val="C8962D"/>
          </a:solidFill>
          <a:ln>
            <a:solidFill>
              <a:srgbClr val="C89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96872" y="2233985"/>
            <a:ext cx="3346704" cy="2998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lang="en-US" sz="1400" b="1" i="1" dirty="0">
                <a:solidFill>
                  <a:schemeClr val="tx2"/>
                </a:solidFill>
              </a:rPr>
              <a:t>Spatial Setup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chemeClr val="tx2"/>
                </a:solidFill>
              </a:rPr>
              <a:t>Districts (n = 64), Neighbors: Queen contiguity, Weights: Row-standardized (ESDA), binary (BYM2)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sz="1400" b="1" i="1" dirty="0">
              <a:solidFill>
                <a:schemeClr val="tx2"/>
              </a:solidFill>
            </a:endParaRPr>
          </a:p>
          <a:p>
            <a:pPr>
              <a:spcAft>
                <a:spcPts val="500"/>
              </a:spcAft>
            </a:pPr>
            <a:r>
              <a:rPr lang="en-US" sz="1400" b="1" i="1" dirty="0">
                <a:solidFill>
                  <a:schemeClr val="tx2"/>
                </a:solidFill>
              </a:rPr>
              <a:t>Spatial Structure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b="1" i="1" dirty="0">
                <a:solidFill>
                  <a:schemeClr val="tx2"/>
                </a:solidFill>
              </a:rPr>
              <a:t>Moran's I — Heat Exposure:</a:t>
            </a:r>
            <a:r>
              <a:rPr lang="en-US" sz="1400" i="1" dirty="0">
                <a:solidFill>
                  <a:schemeClr val="tx2"/>
                </a:solidFill>
              </a:rPr>
              <a:t> I = 0.764, p &lt; 2.2e-16, Strong positive spatial autocorrelation</a:t>
            </a:r>
          </a:p>
          <a:p>
            <a:pPr>
              <a:spcAft>
                <a:spcPts val="500"/>
              </a:spcAft>
            </a:pPr>
            <a:r>
              <a:rPr lang="en-US" sz="1400" b="1" i="1" dirty="0">
                <a:solidFill>
                  <a:schemeClr val="tx2"/>
                </a:solidFill>
              </a:rPr>
              <a:t>Moran's I — Warming Trend:</a:t>
            </a:r>
            <a:r>
              <a:rPr lang="en-US" sz="1400" i="1" dirty="0">
                <a:solidFill>
                  <a:schemeClr val="tx2"/>
                </a:solidFill>
              </a:rPr>
              <a:t> I = 0.716, p &lt; 2.2e-16, Strong positive spatial autocorrelation</a:t>
            </a:r>
            <a:endParaRPr sz="1400" b="0" i="1" dirty="0">
              <a:solidFill>
                <a:schemeClr val="tx2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D4F91"/>
          </a:solidFill>
          <a:ln>
            <a:solidFill>
              <a:srgbClr val="1D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2880" y="6611112"/>
            <a:ext cx="1109167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75AADB"/>
                </a:solidFill>
                <a:latin typeface="Calibri"/>
              </a:rPr>
              <a:t>P9380: Advanced Public Health GIS  |  Columbia University Mailman School of Public Health  |  Spring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69190" y="6537960"/>
            <a:ext cx="42832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lang="en-US" sz="900" b="0" i="0" dirty="0">
                <a:solidFill>
                  <a:srgbClr val="5A6E8C"/>
                </a:solidFill>
                <a:latin typeface="Calibri"/>
              </a:rPr>
              <a:t>5</a:t>
            </a:r>
            <a:r>
              <a:rPr sz="900" b="0" i="0" dirty="0">
                <a:solidFill>
                  <a:srgbClr val="5A6E8C"/>
                </a:solidFill>
                <a:latin typeface="Calibri"/>
              </a:rPr>
              <a:t>/ 1</a:t>
            </a:r>
            <a:r>
              <a:rPr lang="en-US" sz="900" b="0" i="0" dirty="0">
                <a:solidFill>
                  <a:srgbClr val="5A6E8C"/>
                </a:solidFill>
                <a:latin typeface="Calibri"/>
              </a:rPr>
              <a:t>2</a:t>
            </a:r>
            <a:endParaRPr sz="900" b="0" i="0" dirty="0">
              <a:solidFill>
                <a:srgbClr val="5A6E8C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 animBg="1"/>
      <p:bldP spid="9" grpId="0"/>
      <p:bldP spid="10" grpId="0" animBg="1"/>
      <p:bldP spid="11" grpId="0" animBg="1"/>
      <p:bldP spid="12" grpId="0"/>
      <p:bldP spid="13" grpId="0" animBg="1"/>
      <p:bldP spid="14" grpId="0"/>
      <p:bldP spid="15" grpId="0" animBg="1"/>
      <p:bldP spid="16" grpId="0" animBg="1"/>
      <p:bldP spid="17" grpId="0"/>
      <p:bldP spid="18" grpId="0" animBg="1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1575" y="0"/>
            <a:ext cx="12188952" cy="960120"/>
          </a:xfrm>
          <a:prstGeom prst="rect">
            <a:avLst/>
          </a:prstGeom>
          <a:solidFill>
            <a:srgbClr val="1D4F91"/>
          </a:solidFill>
          <a:ln>
            <a:solidFill>
              <a:srgbClr val="1D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Methods: Analytical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75AADB"/>
                </a:solidFill>
                <a:latin typeface="Calibri"/>
              </a:rPr>
              <a:t>Section III  |  Part 3 of 3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3657600" cy="5166360"/>
          </a:xfrm>
          <a:prstGeom prst="rect">
            <a:avLst/>
          </a:prstGeom>
          <a:solidFill>
            <a:srgbClr val="F0F4FA"/>
          </a:solidFill>
          <a:ln w="15240">
            <a:solidFill>
              <a:srgbClr val="1D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3657600" cy="640080"/>
          </a:xfrm>
          <a:prstGeom prst="rect">
            <a:avLst/>
          </a:prstGeom>
          <a:solidFill>
            <a:srgbClr val="1D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115568"/>
            <a:ext cx="3474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Step 1</a:t>
            </a:r>
          </a:p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900" b="0" i="0">
                <a:solidFill>
                  <a:srgbClr val="CCDDEE"/>
                </a:solidFill>
                <a:latin typeface="Calibri"/>
              </a:rPr>
              <a:t>ESDA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1152"/>
            <a:ext cx="34381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 dirty="0">
                <a:solidFill>
                  <a:srgbClr val="0D2B5C"/>
                </a:solidFill>
                <a:latin typeface="Calibri"/>
              </a:rPr>
              <a:t>Exploratory Spatial</a:t>
            </a:r>
            <a:r>
              <a:rPr lang="en-US" sz="1600" b="1" i="0" dirty="0">
                <a:solidFill>
                  <a:srgbClr val="0D2B5C"/>
                </a:solidFill>
                <a:latin typeface="Calibri"/>
              </a:rPr>
              <a:t> </a:t>
            </a:r>
            <a:r>
              <a:rPr sz="1600" b="1" i="0" dirty="0">
                <a:solidFill>
                  <a:srgbClr val="0D2B5C"/>
                </a:solidFill>
                <a:latin typeface="Calibri"/>
              </a:rPr>
              <a:t>Data Analysis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26067"/>
            <a:ext cx="3438144" cy="27432"/>
          </a:xfrm>
          <a:prstGeom prst="rect">
            <a:avLst/>
          </a:prstGeom>
          <a:solidFill>
            <a:srgbClr val="1D4F91"/>
          </a:solidFill>
          <a:ln>
            <a:solidFill>
              <a:srgbClr val="1D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2065" y="2149540"/>
            <a:ext cx="3438144" cy="4803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1" dirty="0">
                <a:solidFill>
                  <a:schemeClr val="tx2"/>
                </a:solidFill>
                <a:latin typeface="Calibri"/>
              </a:rPr>
              <a:t>• </a:t>
            </a:r>
            <a:r>
              <a:rPr sz="1400" b="1" u="sng" dirty="0">
                <a:solidFill>
                  <a:schemeClr val="tx2"/>
                </a:solidFill>
                <a:latin typeface="Calibri"/>
              </a:rPr>
              <a:t>Global </a:t>
            </a:r>
            <a:r>
              <a:rPr lang="en-US" sz="1400" b="1" u="sng" dirty="0">
                <a:solidFill>
                  <a:schemeClr val="tx2"/>
                </a:solidFill>
                <a:latin typeface="Calibri"/>
              </a:rPr>
              <a:t>Moran’s </a:t>
            </a:r>
            <a:r>
              <a:rPr sz="1400" b="1" u="sng" dirty="0">
                <a:solidFill>
                  <a:schemeClr val="tx2"/>
                </a:solidFill>
                <a:latin typeface="Calibri"/>
              </a:rPr>
              <a:t>I</a:t>
            </a:r>
            <a:r>
              <a:rPr lang="en-US" sz="1400" b="1" u="sng" dirty="0">
                <a:solidFill>
                  <a:schemeClr val="tx2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400" i="1" dirty="0">
                <a:solidFill>
                  <a:schemeClr val="tx2"/>
                </a:solidFill>
                <a:latin typeface="Calibri"/>
              </a:rPr>
              <a:t>Tested whether heat exposure and warming trends were spatially clustered across Bangladesh districts</a:t>
            </a:r>
          </a:p>
          <a:p>
            <a:pPr>
              <a:spcAft>
                <a:spcPts val="400"/>
              </a:spcAft>
            </a:pPr>
            <a:r>
              <a:rPr lang="en-US" sz="1400" i="1" dirty="0">
                <a:solidFill>
                  <a:schemeClr val="tx2"/>
                </a:solidFill>
                <a:latin typeface="Calibri"/>
              </a:rPr>
              <a:t>Results: I = 0.764 and I = .716, respectively, both p</a:t>
            </a:r>
            <a:r>
              <a:rPr lang="en-US" sz="1400" i="1" dirty="0">
                <a:solidFill>
                  <a:schemeClr val="tx2"/>
                </a:solidFill>
              </a:rPr>
              <a:t> &lt; 2.2e-16</a:t>
            </a:r>
            <a:r>
              <a:rPr sz="1400" b="0" i="1" dirty="0">
                <a:solidFill>
                  <a:schemeClr val="tx2"/>
                </a:solidFill>
                <a:latin typeface="Calibri"/>
              </a:rPr>
              <a:t>
• </a:t>
            </a:r>
            <a:r>
              <a:rPr lang="en-US" sz="1400" b="1" u="sng" dirty="0">
                <a:solidFill>
                  <a:schemeClr val="tx2"/>
                </a:solidFill>
                <a:latin typeface="Calibri"/>
              </a:rPr>
              <a:t>Bivariate LISA</a:t>
            </a:r>
          </a:p>
          <a:p>
            <a:pPr>
              <a:spcAft>
                <a:spcPts val="400"/>
              </a:spcAft>
            </a:pPr>
            <a:r>
              <a:rPr lang="en-US" sz="1400" b="0" i="1" dirty="0">
                <a:solidFill>
                  <a:schemeClr val="tx2"/>
                </a:solidFill>
                <a:latin typeface="Calibri"/>
              </a:rPr>
              <a:t>To test whether high heat exposure districts are spatially associated with high warming trend neighbors</a:t>
            </a:r>
          </a:p>
          <a:p>
            <a:pPr>
              <a:spcAft>
                <a:spcPts val="400"/>
              </a:spcAft>
            </a:pPr>
            <a:r>
              <a:rPr lang="en-US" sz="1400" i="1" dirty="0">
                <a:solidFill>
                  <a:schemeClr val="tx2"/>
                </a:solidFill>
                <a:latin typeface="Calibri"/>
              </a:rPr>
              <a:t>Results = Identified 11 low heat/high trend districts</a:t>
            </a:r>
            <a:r>
              <a:rPr sz="1400" b="0" i="1" dirty="0">
                <a:solidFill>
                  <a:schemeClr val="tx2"/>
                </a:solidFill>
                <a:latin typeface="Calibri"/>
              </a:rPr>
              <a:t>
• </a:t>
            </a:r>
            <a:r>
              <a:rPr lang="en-US" sz="1400" b="1" u="sng" dirty="0">
                <a:solidFill>
                  <a:schemeClr val="tx2"/>
                </a:solidFill>
                <a:latin typeface="Calibri"/>
              </a:rPr>
              <a:t>Projected crisis timeline analysis</a:t>
            </a:r>
          </a:p>
          <a:p>
            <a:pPr>
              <a:spcAft>
                <a:spcPts val="400"/>
              </a:spcAft>
            </a:pPr>
            <a:r>
              <a:rPr lang="en-US" sz="1400" b="0" i="1" dirty="0">
                <a:solidFill>
                  <a:schemeClr val="tx2"/>
                </a:solidFill>
                <a:latin typeface="Calibri"/>
              </a:rPr>
              <a:t>To identify how many years it would take for 11 low heat-high trend districts to reach high heat numbers using a linear extrapolation</a:t>
            </a:r>
          </a:p>
          <a:p>
            <a:pPr>
              <a:spcAft>
                <a:spcPts val="400"/>
              </a:spcAft>
            </a:pPr>
            <a:r>
              <a:rPr lang="en-US" sz="1050" i="1" dirty="0">
                <a:solidFill>
                  <a:schemeClr val="tx2"/>
                </a:solidFill>
              </a:rPr>
              <a:t>[R: </a:t>
            </a:r>
            <a:r>
              <a:rPr lang="en-US" sz="1050" i="1" dirty="0" err="1">
                <a:solidFill>
                  <a:schemeClr val="tx2"/>
                </a:solidFill>
              </a:rPr>
              <a:t>spdep</a:t>
            </a:r>
            <a:r>
              <a:rPr lang="en-US" sz="1050" i="1" dirty="0">
                <a:solidFill>
                  <a:schemeClr val="tx2"/>
                </a:solidFill>
              </a:rPr>
              <a:t>, </a:t>
            </a:r>
            <a:r>
              <a:rPr lang="en-US" sz="1050" i="1" dirty="0" err="1">
                <a:solidFill>
                  <a:schemeClr val="tx2"/>
                </a:solidFill>
              </a:rPr>
              <a:t>sfdep</a:t>
            </a:r>
            <a:r>
              <a:rPr lang="en-US" sz="1050" i="1" dirty="0">
                <a:solidFill>
                  <a:schemeClr val="tx2"/>
                </a:solidFill>
              </a:rPr>
              <a:t>, ggplot2]</a:t>
            </a:r>
            <a:endParaRPr lang="en-US" sz="1050" b="0" i="1" dirty="0">
              <a:solidFill>
                <a:schemeClr val="tx2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endParaRPr lang="en-US" sz="1050" i="1" dirty="0">
              <a:solidFill>
                <a:schemeClr val="tx2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lang="en-US" sz="1050" b="0" i="1" dirty="0">
                <a:solidFill>
                  <a:schemeClr val="tx2"/>
                </a:solidFill>
                <a:latin typeface="Calibri"/>
              </a:rPr>
              <a:t>
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097280"/>
            <a:ext cx="3657600" cy="5166360"/>
          </a:xfrm>
          <a:prstGeom prst="rect">
            <a:avLst/>
          </a:prstGeom>
          <a:solidFill>
            <a:srgbClr val="F0F4FA"/>
          </a:solidFill>
          <a:ln w="15240">
            <a:solidFill>
              <a:srgbClr val="0D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60520" y="1097280"/>
            <a:ext cx="3657600" cy="640080"/>
          </a:xfrm>
          <a:prstGeom prst="rect">
            <a:avLst/>
          </a:prstGeom>
          <a:solidFill>
            <a:srgbClr val="0D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51959" y="1115568"/>
            <a:ext cx="3474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Step 2</a:t>
            </a:r>
          </a:p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900" b="0" i="0">
                <a:solidFill>
                  <a:srgbClr val="CCDDEE"/>
                </a:solidFill>
                <a:latin typeface="Calibri"/>
              </a:rPr>
              <a:t>Modeling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0248" y="1781152"/>
            <a:ext cx="34381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 dirty="0">
                <a:solidFill>
                  <a:srgbClr val="0D2B5C"/>
                </a:solidFill>
                <a:latin typeface="Calibri"/>
              </a:rPr>
              <a:t>Spatial Statistical</a:t>
            </a:r>
            <a:r>
              <a:rPr lang="en-US" sz="1600" b="1" i="0" dirty="0">
                <a:solidFill>
                  <a:srgbClr val="0D2B5C"/>
                </a:solidFill>
                <a:latin typeface="Calibri"/>
              </a:rPr>
              <a:t> </a:t>
            </a:r>
            <a:r>
              <a:rPr sz="1600" b="1" i="0" dirty="0">
                <a:solidFill>
                  <a:srgbClr val="0D2B5C"/>
                </a:solidFill>
                <a:latin typeface="Calibri"/>
              </a:rPr>
              <a:t>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2114848"/>
            <a:ext cx="3438144" cy="27432"/>
          </a:xfrm>
          <a:prstGeom prst="rect">
            <a:avLst/>
          </a:prstGeom>
          <a:solidFill>
            <a:srgbClr val="0D2B5C"/>
          </a:solidFill>
          <a:ln>
            <a:solidFill>
              <a:srgbClr val="0D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69665" y="2487168"/>
            <a:ext cx="3538727" cy="383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1" dirty="0">
                <a:solidFill>
                  <a:schemeClr val="tx2"/>
                </a:solidFill>
              </a:rPr>
              <a:t>•  </a:t>
            </a:r>
            <a:r>
              <a:rPr lang="en-US" sz="1400" b="1" u="sng" dirty="0">
                <a:solidFill>
                  <a:schemeClr val="tx2"/>
                </a:solidFill>
              </a:rPr>
              <a:t>Warming Trend BYM2</a:t>
            </a:r>
            <a:endParaRPr lang="en-US" sz="1400" i="1" dirty="0">
              <a:solidFill>
                <a:schemeClr val="tx2"/>
              </a:solidFill>
            </a:endParaRPr>
          </a:p>
          <a:p>
            <a:pPr>
              <a:spcAft>
                <a:spcPts val="400"/>
              </a:spcAft>
            </a:pPr>
            <a:r>
              <a:rPr lang="en-US" sz="1400" i="1" dirty="0">
                <a:solidFill>
                  <a:schemeClr val="tx2"/>
                </a:solidFill>
                <a:latin typeface="Calibri"/>
              </a:rPr>
              <a:t>Used to estimate district-level warming rates, accounting for spatial dependence</a:t>
            </a:r>
          </a:p>
          <a:p>
            <a:pPr>
              <a:spcAft>
                <a:spcPts val="400"/>
              </a:spcAft>
            </a:pPr>
            <a:endParaRPr lang="en-US" sz="1400" i="1" dirty="0">
              <a:solidFill>
                <a:schemeClr val="tx2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endParaRPr lang="en-US" sz="1400" i="1" dirty="0">
              <a:solidFill>
                <a:schemeClr val="tx2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lang="en-US" sz="1400" b="1" dirty="0">
                <a:solidFill>
                  <a:schemeClr val="tx2"/>
                </a:solidFill>
              </a:rPr>
              <a:t>•  </a:t>
            </a:r>
            <a:r>
              <a:rPr lang="en-US" sz="1400" b="1" u="sng" dirty="0">
                <a:solidFill>
                  <a:schemeClr val="tx2"/>
                </a:solidFill>
              </a:rPr>
              <a:t>Justification</a:t>
            </a:r>
            <a:endParaRPr lang="en-US" sz="1400" b="1" u="sng" dirty="0">
              <a:solidFill>
                <a:schemeClr val="tx2"/>
              </a:solidFill>
              <a:latin typeface="Calibri"/>
            </a:endParaRPr>
          </a:p>
          <a:p>
            <a:pPr marL="171450" indent="-171450" algn="l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b="0" i="1" dirty="0">
                <a:solidFill>
                  <a:schemeClr val="tx2"/>
                </a:solidFill>
                <a:latin typeface="Calibri"/>
              </a:rPr>
              <a:t>Bayesian methods capture uncertainty better for small sample n</a:t>
            </a:r>
          </a:p>
          <a:p>
            <a:pPr marL="171450" indent="-171450" algn="l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chemeClr val="tx2"/>
                </a:solidFill>
                <a:latin typeface="Calibri"/>
              </a:rPr>
              <a:t>Adjusts for unmeasured spatial factors</a:t>
            </a:r>
          </a:p>
          <a:p>
            <a:pPr marL="171450" indent="-171450" algn="l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sz="1400" b="0" i="1" dirty="0">
              <a:solidFill>
                <a:schemeClr val="tx2"/>
              </a:solidFill>
              <a:latin typeface="Calibri"/>
            </a:endParaRPr>
          </a:p>
          <a:p>
            <a:pPr marL="171450" indent="-171450" algn="l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sz="1400" i="1" dirty="0">
              <a:solidFill>
                <a:schemeClr val="tx2"/>
              </a:solidFill>
              <a:latin typeface="Calibri"/>
            </a:endParaRPr>
          </a:p>
          <a:p>
            <a:pPr marL="171450" indent="-171450" algn="l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sz="1400" b="0" i="1" dirty="0">
              <a:solidFill>
                <a:schemeClr val="tx2"/>
              </a:solidFill>
              <a:latin typeface="Calibri"/>
            </a:endParaRPr>
          </a:p>
          <a:p>
            <a:pPr marL="171450" indent="-171450" algn="l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sz="1400" i="1" dirty="0">
              <a:solidFill>
                <a:schemeClr val="tx2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endParaRPr lang="en-US" sz="1050" b="0" i="1" dirty="0">
              <a:solidFill>
                <a:schemeClr val="tx2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1" dirty="0">
                <a:solidFill>
                  <a:schemeClr val="tx2"/>
                </a:solidFill>
                <a:latin typeface="Calibri"/>
              </a:rPr>
              <a:t>[R: INLA]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09560" y="1097279"/>
            <a:ext cx="3657600" cy="5166360"/>
          </a:xfrm>
          <a:prstGeom prst="rect">
            <a:avLst/>
          </a:prstGeom>
          <a:solidFill>
            <a:srgbClr val="F0F4FA"/>
          </a:solidFill>
          <a:ln w="15240">
            <a:solidFill>
              <a:srgbClr val="C89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09560" y="1097280"/>
            <a:ext cx="3657600" cy="640080"/>
          </a:xfrm>
          <a:prstGeom prst="rect">
            <a:avLst/>
          </a:prstGeom>
          <a:solidFill>
            <a:srgbClr val="C89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01000" y="1115568"/>
            <a:ext cx="3474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Step 3</a:t>
            </a:r>
          </a:p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900" b="0" i="0">
                <a:solidFill>
                  <a:srgbClr val="CCDDEE"/>
                </a:solidFill>
                <a:latin typeface="Calibri"/>
              </a:rPr>
              <a:t>Diagnostics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1798689"/>
            <a:ext cx="34381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 dirty="0">
                <a:solidFill>
                  <a:srgbClr val="0D2B5C"/>
                </a:solidFill>
                <a:latin typeface="Calibri"/>
              </a:rPr>
              <a:t>Model Diagnostics</a:t>
            </a:r>
            <a:r>
              <a:rPr lang="en-US" sz="1600" b="1" i="0" dirty="0">
                <a:solidFill>
                  <a:srgbClr val="0D2B5C"/>
                </a:solidFill>
                <a:latin typeface="Calibri"/>
              </a:rPr>
              <a:t> </a:t>
            </a:r>
            <a:r>
              <a:rPr sz="1600" b="1" i="0" dirty="0">
                <a:solidFill>
                  <a:srgbClr val="0D2B5C"/>
                </a:solidFill>
                <a:latin typeface="Calibri"/>
              </a:rPr>
              <a:t>&amp; Validation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2107398"/>
            <a:ext cx="3438144" cy="27432"/>
          </a:xfrm>
          <a:prstGeom prst="rect">
            <a:avLst/>
          </a:prstGeom>
          <a:solidFill>
            <a:srgbClr val="C8962D"/>
          </a:solidFill>
          <a:ln>
            <a:solidFill>
              <a:srgbClr val="C89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19288" y="2487168"/>
            <a:ext cx="3438144" cy="3775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i="1" dirty="0">
                <a:solidFill>
                  <a:schemeClr val="tx2"/>
                </a:solidFill>
              </a:rPr>
              <a:t>•  </a:t>
            </a:r>
            <a:r>
              <a:rPr lang="en-US" sz="1400" b="1" u="sng" dirty="0">
                <a:solidFill>
                  <a:schemeClr val="tx2"/>
                </a:solidFill>
                <a:latin typeface="Calibri"/>
              </a:rPr>
              <a:t>Morans I on residuals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400" i="1" dirty="0">
                <a:solidFill>
                  <a:schemeClr val="tx2"/>
                </a:solidFill>
                <a:latin typeface="Calibri"/>
              </a:rPr>
              <a:t>Used to verify that </a:t>
            </a:r>
            <a:r>
              <a:rPr lang="en-US" sz="1400" b="0" i="1" dirty="0">
                <a:solidFill>
                  <a:schemeClr val="tx2"/>
                </a:solidFill>
                <a:latin typeface="Calibri"/>
              </a:rPr>
              <a:t>BYM2 models addressed spatial autocorrelation</a:t>
            </a:r>
            <a:endParaRPr lang="en-US" sz="1400" i="1" dirty="0">
              <a:solidFill>
                <a:schemeClr val="tx2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endParaRPr lang="en-US" sz="1400" i="1" dirty="0">
              <a:solidFill>
                <a:schemeClr val="tx2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endParaRPr lang="en-US" sz="1400" b="0" i="1" dirty="0">
              <a:solidFill>
                <a:schemeClr val="tx2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lang="en-US" sz="1400" i="1" dirty="0">
                <a:solidFill>
                  <a:schemeClr val="tx2"/>
                </a:solidFill>
              </a:rPr>
              <a:t>•  </a:t>
            </a:r>
            <a:r>
              <a:rPr lang="en-US" sz="1400" b="1" u="sng" dirty="0">
                <a:solidFill>
                  <a:schemeClr val="tx2"/>
                </a:solidFill>
              </a:rPr>
              <a:t>DIC</a:t>
            </a:r>
            <a:r>
              <a:rPr lang="en-US" sz="1400" b="1" u="sng" dirty="0">
                <a:solidFill>
                  <a:schemeClr val="tx2"/>
                </a:solidFill>
                <a:latin typeface="Calibri"/>
              </a:rPr>
              <a:t>/WAIC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400" i="1" dirty="0">
                <a:solidFill>
                  <a:schemeClr val="tx2"/>
                </a:solidFill>
                <a:latin typeface="Calibri"/>
              </a:rPr>
              <a:t>Used to evaluate model fit and predictive accuracy without overfitting</a:t>
            </a:r>
            <a:endParaRPr lang="en-US" sz="1400" b="0" i="1" dirty="0">
              <a:solidFill>
                <a:schemeClr val="tx2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endParaRPr lang="en-US" sz="1050" b="0" i="1" dirty="0">
              <a:solidFill>
                <a:schemeClr val="tx2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endParaRPr lang="en-US" sz="1050" i="1" dirty="0">
              <a:solidFill>
                <a:schemeClr val="tx2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endParaRPr lang="en-US" sz="1050" b="0" i="1" dirty="0">
              <a:solidFill>
                <a:schemeClr val="tx2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endParaRPr lang="en-US" sz="1050" i="1" dirty="0">
              <a:solidFill>
                <a:schemeClr val="tx2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endParaRPr lang="en-US" sz="1050" b="0" i="1" dirty="0">
              <a:solidFill>
                <a:schemeClr val="tx2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endParaRPr lang="en-US" sz="1050" i="1" dirty="0">
              <a:solidFill>
                <a:schemeClr val="tx2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1" dirty="0">
                <a:solidFill>
                  <a:schemeClr val="tx2"/>
                </a:solidFill>
                <a:latin typeface="Calibri"/>
              </a:rPr>
              <a:t>
[R: </a:t>
            </a:r>
            <a:r>
              <a:rPr sz="1050" b="0" i="1" dirty="0" err="1">
                <a:solidFill>
                  <a:schemeClr val="tx2"/>
                </a:solidFill>
                <a:latin typeface="Calibri"/>
              </a:rPr>
              <a:t>spdep</a:t>
            </a:r>
            <a:r>
              <a:rPr sz="1050" b="0" i="1" dirty="0">
                <a:solidFill>
                  <a:schemeClr val="tx2"/>
                </a:solidFill>
                <a:latin typeface="Calibri"/>
              </a:rPr>
              <a:t>, </a:t>
            </a:r>
            <a:r>
              <a:rPr lang="en-US" sz="1050" b="0" i="1" dirty="0">
                <a:solidFill>
                  <a:schemeClr val="tx2"/>
                </a:solidFill>
                <a:latin typeface="Calibri"/>
              </a:rPr>
              <a:t>INLA, </a:t>
            </a:r>
            <a:r>
              <a:rPr sz="1050" b="0" i="1" dirty="0">
                <a:solidFill>
                  <a:schemeClr val="tx2"/>
                </a:solidFill>
                <a:latin typeface="Calibri"/>
              </a:rPr>
              <a:t>ggplot2]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D4F91"/>
          </a:solidFill>
          <a:ln>
            <a:solidFill>
              <a:srgbClr val="1D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82880" y="6611112"/>
            <a:ext cx="1109167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75AADB"/>
                </a:solidFill>
                <a:latin typeface="Calibri"/>
              </a:rPr>
              <a:t>P9380: Advanced Public Health GIS  |  Columbia University Mailman School of Public Health  |  Spring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43542" y="6537960"/>
            <a:ext cx="45397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lang="en-US" sz="900" dirty="0">
                <a:solidFill>
                  <a:srgbClr val="5A6E8C"/>
                </a:solidFill>
                <a:latin typeface="Calibri"/>
              </a:rPr>
              <a:t>6</a:t>
            </a:r>
            <a:r>
              <a:rPr sz="900" b="0" i="0" dirty="0">
                <a:solidFill>
                  <a:srgbClr val="5A6E8C"/>
                </a:solidFill>
                <a:latin typeface="Calibri"/>
              </a:rPr>
              <a:t> / 1</a:t>
            </a:r>
            <a:r>
              <a:rPr lang="en-US" sz="900" b="0" i="0" dirty="0">
                <a:solidFill>
                  <a:srgbClr val="5A6E8C"/>
                </a:solidFill>
                <a:latin typeface="Calibri"/>
              </a:rPr>
              <a:t>2</a:t>
            </a:r>
            <a:endParaRPr sz="900" b="0" i="0" dirty="0">
              <a:solidFill>
                <a:srgbClr val="5A6E8C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/>
      <p:bldP spid="9" grpId="0" animBg="1"/>
      <p:bldP spid="10" grpId="0"/>
      <p:bldP spid="11" grpId="0" animBg="1"/>
      <p:bldP spid="13" grpId="0"/>
      <p:bldP spid="14" grpId="0"/>
      <p:bldP spid="15" grpId="0" animBg="1"/>
      <p:bldP spid="16" grpId="0"/>
      <p:bldP spid="17" grpId="0" animBg="1"/>
      <p:bldP spid="19" grpId="0"/>
      <p:bldP spid="20" grpId="0"/>
      <p:bldP spid="21" grpId="0" animBg="1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0E140-4B78-66F3-355E-E245CF010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A50572-B942-60E3-788C-0A101B66C4DC}"/>
              </a:ext>
            </a:extLst>
          </p:cNvPr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D4F91"/>
          </a:solidFill>
          <a:ln>
            <a:solidFill>
              <a:srgbClr val="1D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E0DC10-E134-597A-828F-3C896B6A7D15}"/>
              </a:ext>
            </a:extLst>
          </p:cNvPr>
          <p:cNvSpPr txBox="1"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Results: Spatial Analysis &amp; Maps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493DD4-E817-0A8B-469A-B95B1995A76D}"/>
              </a:ext>
            </a:extLst>
          </p:cNvPr>
          <p:cNvSpPr txBox="1"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 dirty="0">
                <a:solidFill>
                  <a:srgbClr val="75AADB"/>
                </a:solidFill>
                <a:latin typeface="Calibri"/>
              </a:rPr>
              <a:t>Section IV  |  ESDA &amp; </a:t>
            </a:r>
            <a:r>
              <a:rPr lang="en-US" sz="1100" b="0" i="1" dirty="0">
                <a:solidFill>
                  <a:srgbClr val="75AADB"/>
                </a:solidFill>
                <a:latin typeface="Calibri"/>
              </a:rPr>
              <a:t>Spatial Patterns</a:t>
            </a:r>
            <a:endParaRPr sz="1100" b="0" i="1" dirty="0">
              <a:solidFill>
                <a:srgbClr val="75AADB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3B7CF5-3CEC-DDFE-0F12-2FF64637F524}"/>
              </a:ext>
            </a:extLst>
          </p:cNvPr>
          <p:cNvSpPr txBox="1"/>
          <p:nvPr/>
        </p:nvSpPr>
        <p:spPr>
          <a:xfrm>
            <a:off x="212132" y="4942563"/>
            <a:ext cx="5290231" cy="4206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 i="1" dirty="0">
                <a:solidFill>
                  <a:srgbClr val="5A6E8C"/>
                </a:solidFill>
                <a:latin typeface="Calibri"/>
              </a:rPr>
              <a:t>Figure </a:t>
            </a:r>
            <a:r>
              <a:rPr lang="en-US" sz="900" i="1" dirty="0">
                <a:solidFill>
                  <a:srgbClr val="5A6E8C"/>
                </a:solidFill>
                <a:latin typeface="Calibri"/>
              </a:rPr>
              <a:t>4</a:t>
            </a:r>
            <a:r>
              <a:rPr sz="900" b="0" i="1" dirty="0">
                <a:solidFill>
                  <a:srgbClr val="5A6E8C"/>
                </a:solidFill>
                <a:latin typeface="Calibri"/>
              </a:rPr>
              <a:t>. </a:t>
            </a:r>
            <a:r>
              <a:rPr lang="en-US" sz="900" i="1" dirty="0">
                <a:solidFill>
                  <a:srgbClr val="5A6E8C"/>
                </a:solidFill>
                <a:latin typeface="Calibri"/>
              </a:rPr>
              <a:t>Bivariate LISA – Heat exposure x warming trend. 11 Low heat/high trend districts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lang="en-US" sz="900" i="1" dirty="0">
                <a:solidFill>
                  <a:srgbClr val="5A6E8C"/>
                </a:solidFill>
                <a:latin typeface="Calibri"/>
              </a:rPr>
              <a:t> in the north represent the critical overlooked risk zones. </a:t>
            </a:r>
            <a:r>
              <a:rPr lang="en-US" sz="900" i="1" dirty="0">
                <a:solidFill>
                  <a:srgbClr val="5A6E8C"/>
                </a:solidFill>
              </a:rPr>
              <a:t>Data: NASA SEDAC GEHE (1983-2016). </a:t>
            </a:r>
            <a:r>
              <a:rPr sz="900" b="0" i="1" dirty="0">
                <a:solidFill>
                  <a:srgbClr val="5A6E8C"/>
                </a:solidFill>
                <a:latin typeface="Calibri"/>
              </a:rPr>
              <a:t>Created in R</a:t>
            </a:r>
            <a:r>
              <a:rPr lang="en-US" sz="900" b="0" i="1" dirty="0">
                <a:solidFill>
                  <a:srgbClr val="5A6E8C"/>
                </a:solidFill>
                <a:latin typeface="Calibri"/>
              </a:rPr>
              <a:t>.</a:t>
            </a:r>
            <a:endParaRPr sz="900" b="0" i="1" dirty="0">
              <a:solidFill>
                <a:srgbClr val="5A6E8C"/>
              </a:solidFill>
              <a:latin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C0897D-ED60-FCF2-EC01-BB99E2D59CA8}"/>
              </a:ext>
            </a:extLst>
          </p:cNvPr>
          <p:cNvSpPr txBox="1"/>
          <p:nvPr/>
        </p:nvSpPr>
        <p:spPr>
          <a:xfrm>
            <a:off x="6439796" y="4919472"/>
            <a:ext cx="4905510" cy="4206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 i="1" dirty="0">
                <a:solidFill>
                  <a:srgbClr val="5A6E8C"/>
                </a:solidFill>
                <a:latin typeface="Calibri"/>
              </a:rPr>
              <a:t>Figure </a:t>
            </a:r>
            <a:r>
              <a:rPr lang="en-US" sz="900" i="1" dirty="0">
                <a:solidFill>
                  <a:srgbClr val="5A6E8C"/>
                </a:solidFill>
                <a:latin typeface="Calibri"/>
              </a:rPr>
              <a:t>5.</a:t>
            </a:r>
            <a:r>
              <a:rPr sz="900" b="0" i="1" dirty="0">
                <a:solidFill>
                  <a:srgbClr val="5A6E8C"/>
                </a:solidFill>
                <a:latin typeface="Calibri"/>
              </a:rPr>
              <a:t> </a:t>
            </a:r>
            <a:r>
              <a:rPr lang="en-US" sz="900" i="1" dirty="0">
                <a:solidFill>
                  <a:srgbClr val="5A6E8C"/>
                </a:solidFill>
                <a:latin typeface="Calibri"/>
              </a:rPr>
              <a:t>Linear extrapolation of projected heat risk for the 11 low heat/high trend districts identified.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 i="1" dirty="0">
                <a:solidFill>
                  <a:srgbClr val="5A6E8C"/>
                </a:solidFill>
                <a:latin typeface="Calibri"/>
              </a:rPr>
              <a:t>Data: </a:t>
            </a:r>
            <a:r>
              <a:rPr lang="en-US" sz="900" i="1" dirty="0">
                <a:solidFill>
                  <a:srgbClr val="5A6E8C"/>
                </a:solidFill>
                <a:latin typeface="Calibri"/>
              </a:rPr>
              <a:t>NASA SEDAC GEHE (1983-2016). </a:t>
            </a:r>
            <a:r>
              <a:rPr sz="900" b="0" i="1" dirty="0">
                <a:solidFill>
                  <a:srgbClr val="5A6E8C"/>
                </a:solidFill>
                <a:latin typeface="Calibri"/>
              </a:rPr>
              <a:t>Created in R.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F5BD2D-E138-4A52-FC63-321D689A7F90}"/>
              </a:ext>
            </a:extLst>
          </p:cNvPr>
          <p:cNvSpPr/>
          <p:nvPr/>
        </p:nvSpPr>
        <p:spPr>
          <a:xfrm>
            <a:off x="411480" y="5395540"/>
            <a:ext cx="11257710" cy="776660"/>
          </a:xfrm>
          <a:prstGeom prst="rect">
            <a:avLst/>
          </a:prstGeom>
          <a:solidFill>
            <a:srgbClr val="E5EFF9"/>
          </a:solidFill>
          <a:ln w="9525">
            <a:solidFill>
              <a:srgbClr val="008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C6BEE7-64B2-D56A-6022-7BCA7765CE0C}"/>
              </a:ext>
            </a:extLst>
          </p:cNvPr>
          <p:cNvSpPr txBox="1"/>
          <p:nvPr/>
        </p:nvSpPr>
        <p:spPr>
          <a:xfrm>
            <a:off x="548640" y="5486130"/>
            <a:ext cx="8906477" cy="5745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 dirty="0">
                <a:solidFill>
                  <a:srgbClr val="0D2B5C"/>
                </a:solidFill>
                <a:latin typeface="Calibri"/>
              </a:rPr>
              <a:t>Spatial Statistics:  </a:t>
            </a:r>
            <a:r>
              <a:rPr lang="en-US" sz="1400" b="0" i="0" dirty="0">
                <a:solidFill>
                  <a:srgbClr val="0D2B5C"/>
                </a:solidFill>
                <a:latin typeface="Calibri"/>
              </a:rPr>
              <a:t>Total districts classified: 32 (50%). High Heat/High Trend: n = 2 (3%).  Low Heat/Low Trend: n = 2 (3%).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400" b="0" i="0" dirty="0">
                <a:solidFill>
                  <a:srgbClr val="0D2B5C"/>
                </a:solidFill>
                <a:latin typeface="Calibri"/>
              </a:rPr>
              <a:t> </a:t>
            </a:r>
            <a:r>
              <a:rPr lang="en-US" sz="1400" b="1" i="0" dirty="0">
                <a:solidFill>
                  <a:srgbClr val="0D2B5C"/>
                </a:solidFill>
                <a:latin typeface="Calibri"/>
              </a:rPr>
              <a:t>Low Heat/High Trend: n = 11 (11%). </a:t>
            </a:r>
            <a:r>
              <a:rPr lang="en-US" sz="1400" b="0" i="0" dirty="0">
                <a:solidFill>
                  <a:srgbClr val="0D2B5C"/>
                </a:solidFill>
                <a:latin typeface="Calibri"/>
              </a:rPr>
              <a:t>High Heat/Low Trend: n = 17 (27%) . Not significant n = 32 (50%) .</a:t>
            </a:r>
            <a:endParaRPr sz="1400" b="0" i="0" dirty="0">
              <a:solidFill>
                <a:srgbClr val="0D2B5C"/>
              </a:solidFill>
              <a:latin typeface="Calib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AC38B1-F625-AEC6-B715-D8B4A0C70FE9}"/>
              </a:ext>
            </a:extLst>
          </p:cNvPr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D4F91"/>
          </a:solidFill>
          <a:ln>
            <a:solidFill>
              <a:srgbClr val="1D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DB2B8A-2DAF-1822-F814-40C24A7BAC44}"/>
              </a:ext>
            </a:extLst>
          </p:cNvPr>
          <p:cNvSpPr txBox="1"/>
          <p:nvPr/>
        </p:nvSpPr>
        <p:spPr>
          <a:xfrm>
            <a:off x="182880" y="6611112"/>
            <a:ext cx="1109167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 dirty="0">
                <a:solidFill>
                  <a:srgbClr val="75AADB"/>
                </a:solidFill>
                <a:latin typeface="Calibri"/>
              </a:rPr>
              <a:t>P9380: Advanced Public Health GIS  |  Columbia University Mailman School of Public Health  |  Spring 2026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41413F-2DDB-80AA-0352-BEE1423E0DC5}"/>
              </a:ext>
            </a:extLst>
          </p:cNvPr>
          <p:cNvSpPr txBox="1"/>
          <p:nvPr/>
        </p:nvSpPr>
        <p:spPr>
          <a:xfrm>
            <a:off x="11669190" y="6537960"/>
            <a:ext cx="42832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lang="en-US" sz="900" b="0" i="0" dirty="0">
                <a:solidFill>
                  <a:srgbClr val="5A6E8C"/>
                </a:solidFill>
                <a:latin typeface="Calibri"/>
              </a:rPr>
              <a:t>7/12</a:t>
            </a:r>
            <a:endParaRPr sz="900" b="0" i="0" dirty="0">
              <a:solidFill>
                <a:srgbClr val="5A6E8C"/>
              </a:solidFill>
              <a:latin typeface="Calibri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F59B9C9-24C9-F92D-90E4-FCF9CE26B9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23"/>
          <a:stretch>
            <a:fillRect/>
          </a:stretch>
        </p:blipFill>
        <p:spPr>
          <a:xfrm>
            <a:off x="845061" y="1044750"/>
            <a:ext cx="4100852" cy="395752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F3B59B0-8B93-A955-1C32-BF3F114691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9"/>
          <a:stretch>
            <a:fillRect/>
          </a:stretch>
        </p:blipFill>
        <p:spPr>
          <a:xfrm>
            <a:off x="7302010" y="1044750"/>
            <a:ext cx="3181082" cy="385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704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 animBg="1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D4F91"/>
          </a:solidFill>
          <a:ln>
            <a:solidFill>
              <a:srgbClr val="1D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Results: Spatial Analysis &amp; Maps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252986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 dirty="0">
                <a:solidFill>
                  <a:srgbClr val="75AADB"/>
                </a:solidFill>
                <a:latin typeface="Calibri"/>
              </a:rPr>
              <a:t>Section IV  |  ESDA &amp; </a:t>
            </a:r>
            <a:r>
              <a:rPr lang="en-US" sz="1100" i="1" dirty="0">
                <a:solidFill>
                  <a:srgbClr val="75AADB"/>
                </a:solidFill>
                <a:latin typeface="Calibri"/>
              </a:rPr>
              <a:t>Temporal Dynamics</a:t>
            </a:r>
            <a:endParaRPr sz="1100" b="0" i="1" dirty="0">
              <a:solidFill>
                <a:srgbClr val="75AADB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7333" y="5366837"/>
            <a:ext cx="58848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 i="1" dirty="0">
                <a:solidFill>
                  <a:srgbClr val="5A6E8C"/>
                </a:solidFill>
                <a:latin typeface="Calibri"/>
              </a:rPr>
              <a:t>Figure </a:t>
            </a:r>
            <a:r>
              <a:rPr lang="en-US" sz="900" b="0" i="1" dirty="0">
                <a:solidFill>
                  <a:srgbClr val="5A6E8C"/>
                </a:solidFill>
                <a:latin typeface="Calibri"/>
              </a:rPr>
              <a:t>6.</a:t>
            </a:r>
            <a:r>
              <a:rPr sz="900" b="0" i="1" dirty="0">
                <a:solidFill>
                  <a:srgbClr val="5A6E8C"/>
                </a:solidFill>
                <a:latin typeface="Calibri"/>
              </a:rPr>
              <a:t> </a:t>
            </a:r>
            <a:r>
              <a:rPr lang="en-US" sz="900" b="0" i="1" dirty="0">
                <a:solidFill>
                  <a:srgbClr val="5A6E8C"/>
                </a:solidFill>
                <a:latin typeface="Calibri"/>
              </a:rPr>
              <a:t>Emerging hotspot analysis </a:t>
            </a:r>
            <a:r>
              <a:rPr lang="en-US" sz="900" i="1" dirty="0">
                <a:solidFill>
                  <a:srgbClr val="5A6E8C"/>
                </a:solidFill>
                <a:latin typeface="Calibri"/>
              </a:rPr>
              <a:t>. </a:t>
            </a:r>
            <a:r>
              <a:rPr lang="en-US" sz="900" b="0" i="1" dirty="0">
                <a:solidFill>
                  <a:srgbClr val="5A6E8C"/>
                </a:solidFill>
                <a:latin typeface="Calibri"/>
              </a:rPr>
              <a:t>Districts classified by temporal hotspot pattern across 34-year study period (1983-2016). Queen contiguity, k = 1, </a:t>
            </a:r>
            <a:r>
              <a:rPr lang="en-US" sz="900" b="0" i="1" dirty="0" err="1">
                <a:solidFill>
                  <a:srgbClr val="5A6E8C"/>
                </a:solidFill>
                <a:latin typeface="Calibri"/>
              </a:rPr>
              <a:t>nsim</a:t>
            </a:r>
            <a:r>
              <a:rPr lang="en-US" sz="900" b="0" i="1" dirty="0">
                <a:solidFill>
                  <a:srgbClr val="5A6E8C"/>
                </a:solidFill>
                <a:latin typeface="Calibri"/>
              </a:rPr>
              <a:t> = 100. </a:t>
            </a:r>
            <a:r>
              <a:rPr lang="en-US" sz="900" i="1" dirty="0">
                <a:solidFill>
                  <a:srgbClr val="5A6E8C"/>
                </a:solidFill>
              </a:rPr>
              <a:t>Data: NASA SEDAC GEHE (1983-2016). </a:t>
            </a:r>
            <a:r>
              <a:rPr sz="900" b="0" i="1" dirty="0">
                <a:solidFill>
                  <a:srgbClr val="5A6E8C"/>
                </a:solidFill>
                <a:latin typeface="Calibri"/>
              </a:rPr>
              <a:t>Created in R</a:t>
            </a:r>
            <a:r>
              <a:rPr lang="en-US" sz="900" b="0" i="1" dirty="0">
                <a:solidFill>
                  <a:srgbClr val="5A6E8C"/>
                </a:solidFill>
                <a:latin typeface="Calibri"/>
              </a:rPr>
              <a:t>.</a:t>
            </a:r>
            <a:endParaRPr sz="900" b="0" i="1" dirty="0">
              <a:solidFill>
                <a:srgbClr val="5A6E8C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09551" y="5954931"/>
            <a:ext cx="11485287" cy="542887"/>
          </a:xfrm>
          <a:prstGeom prst="rect">
            <a:avLst/>
          </a:prstGeom>
          <a:solidFill>
            <a:srgbClr val="E5EFF9"/>
          </a:solidFill>
          <a:ln w="9525">
            <a:solidFill>
              <a:srgbClr val="008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19" y="5959259"/>
            <a:ext cx="9013613" cy="574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dirty="0"/>
              <a:t>Spatial Statistics: </a:t>
            </a:r>
            <a:r>
              <a:rPr lang="en-US" sz="1400" b="1" dirty="0"/>
              <a:t>Consecutive hotspot: n=1 (2%).</a:t>
            </a:r>
            <a:r>
              <a:rPr lang="en-US" sz="1400" dirty="0"/>
              <a:t> Sporadic hotspot: n=20 (31%). Oscillating </a:t>
            </a:r>
            <a:r>
              <a:rPr lang="en-US" sz="1400" dirty="0" err="1"/>
              <a:t>coldspot</a:t>
            </a:r>
            <a:r>
              <a:rPr lang="en-US" sz="1400" dirty="0"/>
              <a:t>: n=19 (30%). </a:t>
            </a:r>
          </a:p>
          <a:p>
            <a:pPr>
              <a:spcAft>
                <a:spcPts val="400"/>
              </a:spcAft>
            </a:pPr>
            <a:r>
              <a:rPr lang="en-US" sz="1400" dirty="0"/>
              <a:t>Sporadic </a:t>
            </a:r>
            <a:r>
              <a:rPr lang="en-US" sz="1400" dirty="0" err="1"/>
              <a:t>coldspot</a:t>
            </a:r>
            <a:r>
              <a:rPr lang="en-US" sz="1400" dirty="0"/>
              <a:t>: n=15 (23%).  Persistent </a:t>
            </a:r>
            <a:r>
              <a:rPr lang="en-US" sz="1400" dirty="0" err="1"/>
              <a:t>coldspot</a:t>
            </a:r>
            <a:r>
              <a:rPr lang="en-US" sz="1400" dirty="0"/>
              <a:t>: n=4 (6%). No pattern detected: n=5 (8%).</a:t>
            </a:r>
            <a:endParaRPr sz="1400" b="0" i="0" dirty="0">
              <a:solidFill>
                <a:srgbClr val="0D2B5C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D4F91"/>
          </a:solidFill>
          <a:ln>
            <a:solidFill>
              <a:srgbClr val="1D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82880" y="6611112"/>
            <a:ext cx="1109167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75AADB"/>
                </a:solidFill>
                <a:latin typeface="Calibri"/>
              </a:rPr>
              <a:t>P9380: Advanced Public Health GIS  |  Columbia University Mailman School of Public Health  |  Spring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94838" y="6537960"/>
            <a:ext cx="4026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lang="en-US" sz="900" dirty="0">
                <a:solidFill>
                  <a:srgbClr val="5A6E8C"/>
                </a:solidFill>
                <a:latin typeface="Calibri"/>
              </a:rPr>
              <a:t>8/12</a:t>
            </a:r>
            <a:endParaRPr sz="900" b="0" i="0" dirty="0">
              <a:solidFill>
                <a:srgbClr val="5A6E8C"/>
              </a:solidFill>
              <a:latin typeface="Calibri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A183F65-B48D-7CFD-88BB-474F2391F3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406"/>
          <a:stretch>
            <a:fillRect/>
          </a:stretch>
        </p:blipFill>
        <p:spPr>
          <a:xfrm>
            <a:off x="209551" y="1097280"/>
            <a:ext cx="4472410" cy="418592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AB84ACA-8243-0353-72BC-7FE4EC20D573}"/>
              </a:ext>
            </a:extLst>
          </p:cNvPr>
          <p:cNvSpPr txBox="1"/>
          <p:nvPr/>
        </p:nvSpPr>
        <p:spPr>
          <a:xfrm>
            <a:off x="1706852" y="1738814"/>
            <a:ext cx="4062056" cy="512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200" b="0" i="1" dirty="0">
                <a:solidFill>
                  <a:srgbClr val="5A6E8C"/>
                </a:solidFill>
                <a:latin typeface="Calibri"/>
              </a:rPr>
              <a:t>Gaibandha (Rangpur Division) is the sole consecutive hotspot,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200" i="1" dirty="0">
                <a:solidFill>
                  <a:srgbClr val="5A6E8C"/>
                </a:solidFill>
                <a:latin typeface="Calibri"/>
              </a:rPr>
              <a:t>corroborating the bivariate LISA and crisis timeline findings.</a:t>
            </a:r>
            <a:endParaRPr sz="1200" b="0" i="1" dirty="0">
              <a:solidFill>
                <a:srgbClr val="5A6E8C"/>
              </a:solidFill>
              <a:latin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F68BC1-D70A-2A86-DE75-1D4D7B612B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7846" y="1538317"/>
            <a:ext cx="6376903" cy="31884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DDF99C7-E8A7-B530-1CC3-49A3EEBA1200}"/>
              </a:ext>
            </a:extLst>
          </p:cNvPr>
          <p:cNvSpPr txBox="1"/>
          <p:nvPr/>
        </p:nvSpPr>
        <p:spPr>
          <a:xfrm>
            <a:off x="6303964" y="4945530"/>
            <a:ext cx="588486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 i="1" dirty="0">
                <a:solidFill>
                  <a:srgbClr val="5A6E8C"/>
                </a:solidFill>
                <a:latin typeface="Calibri"/>
              </a:rPr>
              <a:t>Figure </a:t>
            </a:r>
            <a:r>
              <a:rPr lang="en-US" sz="900" i="1" dirty="0">
                <a:solidFill>
                  <a:srgbClr val="5A6E8C"/>
                </a:solidFill>
                <a:latin typeface="Calibri"/>
              </a:rPr>
              <a:t>7.</a:t>
            </a:r>
            <a:r>
              <a:rPr sz="900" b="0" i="1" dirty="0">
                <a:solidFill>
                  <a:srgbClr val="5A6E8C"/>
                </a:solidFill>
                <a:latin typeface="Calibri"/>
              </a:rPr>
              <a:t> </a:t>
            </a:r>
            <a:r>
              <a:rPr lang="en-US" sz="900" b="0" i="1" dirty="0">
                <a:solidFill>
                  <a:srgbClr val="5A6E8C"/>
                </a:solidFill>
                <a:latin typeface="Calibri"/>
              </a:rPr>
              <a:t>Extreme heat trajectories. </a:t>
            </a:r>
            <a:r>
              <a:rPr lang="en-US" sz="900" i="1" dirty="0">
                <a:solidFill>
                  <a:srgbClr val="5A6E8C"/>
                </a:solidFill>
              </a:rPr>
              <a:t>Data: NASA SEDAC GEHE (1983-2016). </a:t>
            </a:r>
            <a:r>
              <a:rPr sz="900" b="0" i="1" dirty="0">
                <a:solidFill>
                  <a:srgbClr val="5A6E8C"/>
                </a:solidFill>
                <a:latin typeface="Calibri"/>
              </a:rPr>
              <a:t>Created in R</a:t>
            </a:r>
            <a:r>
              <a:rPr lang="en-US" sz="900" b="0" i="1" dirty="0">
                <a:solidFill>
                  <a:srgbClr val="5A6E8C"/>
                </a:solidFill>
                <a:latin typeface="Calibri"/>
              </a:rPr>
              <a:t>.</a:t>
            </a:r>
            <a:endParaRPr sz="900" b="0" i="1" dirty="0">
              <a:solidFill>
                <a:srgbClr val="5A6E8C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 animBg="1"/>
      <p:bldP spid="13" grpId="0"/>
      <p:bldP spid="23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466" y="-1372"/>
            <a:ext cx="12188952" cy="960120"/>
          </a:xfrm>
          <a:prstGeom prst="rect">
            <a:avLst/>
          </a:prstGeom>
          <a:solidFill>
            <a:srgbClr val="1D4F91"/>
          </a:solidFill>
          <a:ln>
            <a:solidFill>
              <a:srgbClr val="1D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4185" y="9144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Results: Statistical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75AADB"/>
                </a:solidFill>
                <a:latin typeface="Calibri"/>
              </a:rPr>
              <a:t>Section IV  |  Model Results &amp; Interpretation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074065"/>
            <a:ext cx="2490872" cy="482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1" dirty="0">
                <a:solidFill>
                  <a:srgbClr val="5A6E8C"/>
                </a:solidFill>
                <a:latin typeface="Calibri"/>
              </a:rPr>
              <a:t>
</a:t>
            </a:r>
            <a:r>
              <a:rPr lang="en-US" sz="1100" b="0" i="1" dirty="0">
                <a:solidFill>
                  <a:srgbClr val="5A6E8C"/>
                </a:solidFill>
                <a:latin typeface="Calibri"/>
              </a:rPr>
              <a:t>Both tables were</a:t>
            </a:r>
            <a:r>
              <a:rPr lang="en-US" sz="1100" i="1" dirty="0">
                <a:solidFill>
                  <a:srgbClr val="5A6E8C"/>
                </a:solidFill>
                <a:latin typeface="Calibri"/>
              </a:rPr>
              <a:t> c</a:t>
            </a:r>
            <a:r>
              <a:rPr sz="1100" b="0" i="1" dirty="0">
                <a:solidFill>
                  <a:srgbClr val="5A6E8C"/>
                </a:solidFill>
                <a:latin typeface="Calibri"/>
              </a:rPr>
              <a:t>reated in R (</a:t>
            </a:r>
            <a:r>
              <a:rPr lang="en-US" sz="1100" b="0" i="1" dirty="0" err="1">
                <a:solidFill>
                  <a:srgbClr val="5A6E8C"/>
                </a:solidFill>
                <a:latin typeface="Calibri"/>
              </a:rPr>
              <a:t>gt</a:t>
            </a:r>
            <a:r>
              <a:rPr sz="1100" b="0" i="1" dirty="0">
                <a:solidFill>
                  <a:srgbClr val="5A6E8C"/>
                </a:solidFill>
                <a:latin typeface="Calibri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940199"/>
            <a:ext cx="124341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 dirty="0">
                <a:solidFill>
                  <a:srgbClr val="0D2B5C"/>
                </a:solidFill>
                <a:latin typeface="Calibri"/>
              </a:rPr>
              <a:t>Key Findings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242199"/>
            <a:ext cx="5326486" cy="1917616"/>
          </a:xfrm>
          <a:prstGeom prst="rect">
            <a:avLst/>
          </a:prstGeom>
          <a:solidFill>
            <a:srgbClr val="E5EFF9"/>
          </a:solidFill>
          <a:ln w="9525">
            <a:solidFill>
              <a:srgbClr val="008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60029" y="1227687"/>
            <a:ext cx="5190919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b="0" i="1" dirty="0">
                <a:solidFill>
                  <a:srgbClr val="5A6E8C"/>
                </a:solidFill>
                <a:latin typeface="Calibri"/>
              </a:rPr>
              <a:t>Higher relative wealth index was associated with slower warming (posterior mean = -0.043, 95% CI: -0.079 to -0.007)</a:t>
            </a:r>
          </a:p>
          <a:p>
            <a:pPr marL="171450" indent="-171450" algn="l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rgbClr val="5A6E8C"/>
                </a:solidFill>
                <a:latin typeface="Calibri"/>
              </a:rPr>
              <a:t>The more inland, the faster warming occurs (posterior mean = 0.066, 95% CI: 0.011 to 0.121)</a:t>
            </a:r>
          </a:p>
          <a:p>
            <a:pPr>
              <a:spcAft>
                <a:spcPts val="400"/>
              </a:spcAft>
            </a:pPr>
            <a:r>
              <a:rPr lang="en-US" sz="1400" i="1" dirty="0">
                <a:solidFill>
                  <a:srgbClr val="5A6E8C"/>
                </a:solidFill>
              </a:rPr>
              <a:t>• Spatial </a:t>
            </a:r>
            <a:r>
              <a:rPr lang="en-US" sz="1400" b="0" i="1" dirty="0">
                <a:solidFill>
                  <a:srgbClr val="5A6E8C"/>
                </a:solidFill>
                <a:latin typeface="Calibri"/>
              </a:rPr>
              <a:t>mixing parameter Phi = 0.972, </a:t>
            </a:r>
            <a:r>
              <a:rPr sz="1400" b="0" i="1" dirty="0">
                <a:solidFill>
                  <a:srgbClr val="5A6E8C"/>
                </a:solidFill>
                <a:latin typeface="Calibri"/>
              </a:rPr>
              <a:t>indicating significant spatial dependence.
</a:t>
            </a:r>
            <a:r>
              <a:rPr lang="en-US" sz="1400" b="0" i="1" dirty="0">
                <a:solidFill>
                  <a:srgbClr val="5A6E8C"/>
                </a:solidFill>
                <a:latin typeface="Calibri"/>
              </a:rPr>
              <a:t>• </a:t>
            </a:r>
            <a:r>
              <a:rPr sz="1400" b="0" i="1" dirty="0">
                <a:solidFill>
                  <a:srgbClr val="5A6E8C"/>
                </a:solidFill>
                <a:latin typeface="Calibri"/>
              </a:rPr>
              <a:t>Moran's I on residuals = </a:t>
            </a:r>
            <a:r>
              <a:rPr lang="en-US" sz="1400" i="1" dirty="0">
                <a:solidFill>
                  <a:srgbClr val="5A6E8C"/>
                </a:solidFill>
                <a:latin typeface="Calibri"/>
              </a:rPr>
              <a:t>-0.052 (p = 0.671), </a:t>
            </a:r>
            <a:r>
              <a:rPr sz="1400" b="0" i="1" dirty="0">
                <a:solidFill>
                  <a:srgbClr val="5A6E8C"/>
                </a:solidFill>
                <a:latin typeface="Calibri"/>
              </a:rPr>
              <a:t>confirming spatial autocorrelation is </a:t>
            </a:r>
            <a:r>
              <a:rPr lang="en-US" sz="1400" i="1" dirty="0">
                <a:solidFill>
                  <a:srgbClr val="5A6E8C"/>
                </a:solidFill>
                <a:latin typeface="Calibri"/>
              </a:rPr>
              <a:t>addressed.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13543"/>
            <a:ext cx="12188952" cy="256032"/>
          </a:xfrm>
          <a:prstGeom prst="rect">
            <a:avLst/>
          </a:prstGeom>
          <a:solidFill>
            <a:srgbClr val="1D4F91"/>
          </a:solidFill>
          <a:ln>
            <a:solidFill>
              <a:srgbClr val="1D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" y="6611112"/>
            <a:ext cx="1109167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75AADB"/>
                </a:solidFill>
                <a:latin typeface="Calibri"/>
              </a:rPr>
              <a:t>P9380: Advanced Public Health GIS  |  Columbia University Mailman School of Public Health  |  Spring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94838" y="6537960"/>
            <a:ext cx="4026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lang="en-US" sz="900" dirty="0">
                <a:solidFill>
                  <a:srgbClr val="5A6E8C"/>
                </a:solidFill>
                <a:latin typeface="Calibri"/>
              </a:rPr>
              <a:t>9/12</a:t>
            </a:r>
            <a:endParaRPr sz="900" b="0" i="0" dirty="0">
              <a:solidFill>
                <a:srgbClr val="5A6E8C"/>
              </a:solidFill>
              <a:latin typeface="Calibri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2E535C2-538B-6EE9-1754-904F75FC22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604" t="47535"/>
          <a:stretch>
            <a:fillRect/>
          </a:stretch>
        </p:blipFill>
        <p:spPr>
          <a:xfrm>
            <a:off x="7134819" y="3197607"/>
            <a:ext cx="4474086" cy="289040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6773591-B2A6-19E8-B084-5131C2C1EAE9}"/>
              </a:ext>
            </a:extLst>
          </p:cNvPr>
          <p:cNvSpPr txBox="1"/>
          <p:nvPr/>
        </p:nvSpPr>
        <p:spPr>
          <a:xfrm>
            <a:off x="7825343" y="6125806"/>
            <a:ext cx="3190297" cy="4206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 i="1" dirty="0">
                <a:solidFill>
                  <a:srgbClr val="5A6E8C"/>
                </a:solidFill>
                <a:latin typeface="Calibri"/>
              </a:rPr>
              <a:t>Figure </a:t>
            </a:r>
            <a:r>
              <a:rPr lang="en-US" sz="900" b="0" i="1" dirty="0">
                <a:solidFill>
                  <a:srgbClr val="5A6E8C"/>
                </a:solidFill>
                <a:latin typeface="Calibri"/>
              </a:rPr>
              <a:t>8</a:t>
            </a:r>
            <a:r>
              <a:rPr lang="en-US" sz="900" i="1" dirty="0">
                <a:solidFill>
                  <a:srgbClr val="5A6E8C"/>
                </a:solidFill>
                <a:latin typeface="Calibri"/>
              </a:rPr>
              <a:t>.</a:t>
            </a:r>
            <a:r>
              <a:rPr sz="900" b="0" i="1" dirty="0">
                <a:solidFill>
                  <a:srgbClr val="5A6E8C"/>
                </a:solidFill>
                <a:latin typeface="Calibri"/>
              </a:rPr>
              <a:t> </a:t>
            </a:r>
            <a:r>
              <a:rPr lang="en-US" sz="900" b="0" i="1" dirty="0">
                <a:solidFill>
                  <a:srgbClr val="5A6E8C"/>
                </a:solidFill>
                <a:latin typeface="Calibri"/>
              </a:rPr>
              <a:t>Fixed effects coefficient plots for BYM2 </a:t>
            </a:r>
            <a:r>
              <a:rPr lang="en-US" sz="900" i="1" dirty="0">
                <a:solidFill>
                  <a:srgbClr val="5A6E8C"/>
                </a:solidFill>
                <a:latin typeface="Calibri"/>
              </a:rPr>
              <a:t>model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 i="1" dirty="0">
                <a:solidFill>
                  <a:srgbClr val="5A6E8C"/>
                </a:solidFill>
                <a:latin typeface="Calibri"/>
              </a:rPr>
              <a:t>Data: </a:t>
            </a:r>
            <a:r>
              <a:rPr lang="en-US" sz="900" i="1" dirty="0">
                <a:solidFill>
                  <a:srgbClr val="5A6E8C"/>
                </a:solidFill>
                <a:latin typeface="Calibri"/>
              </a:rPr>
              <a:t>NASA SEDAC GEHE (1983-2016) &amp; Meta RWI. </a:t>
            </a:r>
            <a:r>
              <a:rPr sz="900" b="0" i="1" dirty="0">
                <a:solidFill>
                  <a:srgbClr val="5A6E8C"/>
                </a:solidFill>
                <a:latin typeface="Calibri"/>
              </a:rPr>
              <a:t>Created in R.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CB310D-545E-22DA-D4DA-A378A72967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76" y="1034331"/>
            <a:ext cx="6777783" cy="223353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B6CFE0D-FA9A-9878-3E30-0515AF2813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76" y="3301929"/>
            <a:ext cx="6820124" cy="26491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644D3-4848-74E0-176F-C09E33597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3806AA-8718-E015-1139-A11659488671}"/>
              </a:ext>
            </a:extLst>
          </p:cNvPr>
          <p:cNvSpPr/>
          <p:nvPr/>
        </p:nvSpPr>
        <p:spPr>
          <a:xfrm>
            <a:off x="-4466" y="56503"/>
            <a:ext cx="12188952" cy="960120"/>
          </a:xfrm>
          <a:prstGeom prst="rect">
            <a:avLst/>
          </a:prstGeom>
          <a:solidFill>
            <a:srgbClr val="1D4F91"/>
          </a:solidFill>
          <a:ln>
            <a:solidFill>
              <a:srgbClr val="1D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FE3A5B-3B71-7113-F997-127ECBFFD215}"/>
              </a:ext>
            </a:extLst>
          </p:cNvPr>
          <p:cNvSpPr txBox="1"/>
          <p:nvPr/>
        </p:nvSpPr>
        <p:spPr>
          <a:xfrm>
            <a:off x="354185" y="9144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 dirty="0">
                <a:solidFill>
                  <a:srgbClr val="FFFFFF"/>
                </a:solidFill>
                <a:latin typeface="Calibri"/>
              </a:rPr>
              <a:t>Results: Statistical Models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C5FCA7-B3B7-6C69-26CF-95236C80A754}"/>
              </a:ext>
            </a:extLst>
          </p:cNvPr>
          <p:cNvSpPr txBox="1"/>
          <p:nvPr/>
        </p:nvSpPr>
        <p:spPr>
          <a:xfrm>
            <a:off x="365760" y="594360"/>
            <a:ext cx="354135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 dirty="0">
                <a:solidFill>
                  <a:srgbClr val="75AADB"/>
                </a:solidFill>
                <a:latin typeface="Calibri"/>
              </a:rPr>
              <a:t>Section IV  |  </a:t>
            </a:r>
            <a:r>
              <a:rPr lang="en-US" sz="1100" b="0" i="1" dirty="0">
                <a:solidFill>
                  <a:srgbClr val="75AADB"/>
                </a:solidFill>
                <a:latin typeface="Calibri"/>
              </a:rPr>
              <a:t>What the Model Cannot Explain is Still Spatial</a:t>
            </a:r>
            <a:endParaRPr sz="1100" b="0" i="1" dirty="0">
              <a:solidFill>
                <a:srgbClr val="75AADB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1D7868-6518-0C35-2069-97CA3697E240}"/>
              </a:ext>
            </a:extLst>
          </p:cNvPr>
          <p:cNvSpPr txBox="1"/>
          <p:nvPr/>
        </p:nvSpPr>
        <p:spPr>
          <a:xfrm>
            <a:off x="7342910" y="1884889"/>
            <a:ext cx="137101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i="0" dirty="0">
                <a:solidFill>
                  <a:srgbClr val="0D2B5C"/>
                </a:solidFill>
                <a:latin typeface="Calibri"/>
              </a:rPr>
              <a:t>Key Findings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D5F3FF-B41B-CE26-15B3-4BB97BDA7B95}"/>
              </a:ext>
            </a:extLst>
          </p:cNvPr>
          <p:cNvSpPr/>
          <p:nvPr/>
        </p:nvSpPr>
        <p:spPr>
          <a:xfrm>
            <a:off x="7342910" y="2307152"/>
            <a:ext cx="4524412" cy="3220812"/>
          </a:xfrm>
          <a:prstGeom prst="rect">
            <a:avLst/>
          </a:prstGeom>
          <a:solidFill>
            <a:srgbClr val="E5EFF9"/>
          </a:solidFill>
          <a:ln w="9525">
            <a:solidFill>
              <a:srgbClr val="008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577594-1521-D710-19AF-9C453FF2593C}"/>
              </a:ext>
            </a:extLst>
          </p:cNvPr>
          <p:cNvSpPr txBox="1"/>
          <p:nvPr/>
        </p:nvSpPr>
        <p:spPr>
          <a:xfrm>
            <a:off x="7456760" y="2470737"/>
            <a:ext cx="418037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b="0" i="1" dirty="0">
                <a:solidFill>
                  <a:srgbClr val="5A6E8C"/>
                </a:solidFill>
                <a:latin typeface="Calibri"/>
              </a:rPr>
              <a:t>Gaibandha remains red here, showing that it is warming faster than its wealth, elevation, coastal distance, and population density would predict</a:t>
            </a:r>
          </a:p>
          <a:p>
            <a:pPr>
              <a:spcAft>
                <a:spcPts val="400"/>
              </a:spcAft>
            </a:pPr>
            <a:endParaRPr lang="en-US" sz="1600" i="1" dirty="0">
              <a:solidFill>
                <a:srgbClr val="5A6E8C"/>
              </a:solidFill>
              <a:latin typeface="Calibri"/>
            </a:endParaRP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sz="1600" b="0" i="1" dirty="0">
              <a:solidFill>
                <a:srgbClr val="5A6E8C"/>
              </a:solidFill>
              <a:latin typeface="Calibri"/>
            </a:endParaRP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i="1" dirty="0">
                <a:solidFill>
                  <a:srgbClr val="5A6E8C"/>
                </a:solidFill>
                <a:latin typeface="Calibri"/>
              </a:rPr>
              <a:t> Worth noting that the Southeastern districts also show elevated residuals, suggesting that there are additional unmeasured spatial factors influencing this pattern in this region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C2703B-875F-E61D-E91D-3CBFB760F0E8}"/>
              </a:ext>
            </a:extLst>
          </p:cNvPr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D4F91"/>
          </a:solidFill>
          <a:ln>
            <a:solidFill>
              <a:srgbClr val="1D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280B98-7B4D-E9B0-986E-DB25344FF9EB}"/>
              </a:ext>
            </a:extLst>
          </p:cNvPr>
          <p:cNvSpPr txBox="1"/>
          <p:nvPr/>
        </p:nvSpPr>
        <p:spPr>
          <a:xfrm>
            <a:off x="182880" y="6611112"/>
            <a:ext cx="1109167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75AADB"/>
                </a:solidFill>
                <a:latin typeface="Calibri"/>
              </a:rPr>
              <a:t>P9380: Advanced Public Health GIS  |  Columbia University Mailman School of Public Health  |  Spring 2026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8F9E20-F37D-8EC8-6507-CEDC0A3165B7}"/>
              </a:ext>
            </a:extLst>
          </p:cNvPr>
          <p:cNvSpPr txBox="1"/>
          <p:nvPr/>
        </p:nvSpPr>
        <p:spPr>
          <a:xfrm>
            <a:off x="11637130" y="6537960"/>
            <a:ext cx="4603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lang="en-US" sz="900" dirty="0">
                <a:solidFill>
                  <a:srgbClr val="5A6E8C"/>
                </a:solidFill>
                <a:latin typeface="Calibri"/>
              </a:rPr>
              <a:t>10/12</a:t>
            </a:r>
            <a:endParaRPr sz="900" b="0" i="0" dirty="0">
              <a:solidFill>
                <a:srgbClr val="5A6E8C"/>
              </a:solidFill>
              <a:latin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809AE9-46B5-8662-DA9D-19A70C5A652C}"/>
              </a:ext>
            </a:extLst>
          </p:cNvPr>
          <p:cNvSpPr txBox="1"/>
          <p:nvPr/>
        </p:nvSpPr>
        <p:spPr>
          <a:xfrm>
            <a:off x="528749" y="6047879"/>
            <a:ext cx="5602816" cy="4206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 i="1" dirty="0">
                <a:solidFill>
                  <a:srgbClr val="5A6E8C"/>
                </a:solidFill>
                <a:latin typeface="Calibri"/>
              </a:rPr>
              <a:t>Figure </a:t>
            </a:r>
            <a:r>
              <a:rPr lang="en-US" sz="900" b="0" i="1" dirty="0">
                <a:solidFill>
                  <a:srgbClr val="5A6E8C"/>
                </a:solidFill>
                <a:latin typeface="Calibri"/>
              </a:rPr>
              <a:t>9. Spatial random effects for warming trend model. Model: Gaussian BYM2 via INLA.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lang="en-US" sz="900" i="1" dirty="0">
                <a:solidFill>
                  <a:srgbClr val="5A6E8C"/>
                </a:solidFill>
                <a:latin typeface="Calibri"/>
              </a:rPr>
              <a:t>Phi = 0.972 | Residual Moran’s I = -0.052 (p = 0.671) </a:t>
            </a:r>
            <a:r>
              <a:rPr sz="900" b="0" i="1" dirty="0">
                <a:solidFill>
                  <a:srgbClr val="5A6E8C"/>
                </a:solidFill>
                <a:latin typeface="Calibri"/>
              </a:rPr>
              <a:t>Data: </a:t>
            </a:r>
            <a:r>
              <a:rPr lang="en-US" sz="900" i="1" dirty="0">
                <a:solidFill>
                  <a:srgbClr val="5A6E8C"/>
                </a:solidFill>
                <a:latin typeface="Calibri"/>
              </a:rPr>
              <a:t>NASA SEDAC GEHE (1983-2016) &amp; Meta RWI. </a:t>
            </a:r>
            <a:r>
              <a:rPr sz="900" b="0" i="1" dirty="0">
                <a:solidFill>
                  <a:srgbClr val="5A6E8C"/>
                </a:solidFill>
                <a:latin typeface="Calibri"/>
              </a:rPr>
              <a:t>Created in R.</a:t>
            </a:r>
            <a:endParaRPr lang="en-US" sz="900" b="0" i="1" dirty="0">
              <a:solidFill>
                <a:srgbClr val="5A6E8C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C3BCD2-C65F-E699-01EB-5925B0BB3C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384"/>
          <a:stretch>
            <a:fillRect/>
          </a:stretch>
        </p:blipFill>
        <p:spPr>
          <a:xfrm>
            <a:off x="983974" y="1097281"/>
            <a:ext cx="4744742" cy="4997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125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D4F91"/>
          </a:solidFill>
          <a:ln>
            <a:solidFill>
              <a:srgbClr val="1D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 dirty="0">
                <a:solidFill>
                  <a:srgbClr val="FFFFFF"/>
                </a:solidFill>
                <a:latin typeface="Calibri"/>
              </a:rPr>
              <a:t>Conclusions &amp;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75AADB"/>
                </a:solidFill>
                <a:latin typeface="Calibri"/>
              </a:rPr>
              <a:t>Section V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6364" y="1011753"/>
            <a:ext cx="3123692" cy="2300396"/>
          </a:xfrm>
          <a:prstGeom prst="rect">
            <a:avLst/>
          </a:prstGeom>
          <a:solidFill>
            <a:srgbClr val="E5EFF9"/>
          </a:solidFill>
          <a:ln w="9525">
            <a:solidFill>
              <a:srgbClr val="008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6364" y="1011753"/>
            <a:ext cx="3123692" cy="299690"/>
          </a:xfrm>
          <a:prstGeom prst="rect">
            <a:avLst/>
          </a:prstGeom>
          <a:solidFill>
            <a:srgbClr val="008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96163" y="989055"/>
            <a:ext cx="95891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 dirty="0">
                <a:solidFill>
                  <a:srgbClr val="FFFFFF"/>
                </a:solidFill>
                <a:latin typeface="Calibri"/>
              </a:rPr>
              <a:t>Finding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3781" y="1520726"/>
            <a:ext cx="308627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600" b="0" dirty="0">
                <a:solidFill>
                  <a:srgbClr val="0D2B5C"/>
                </a:solidFill>
                <a:latin typeface="Calibri"/>
              </a:rPr>
              <a:t>Wealth drives where </a:t>
            </a:r>
            <a:r>
              <a:rPr lang="en-US" sz="1600" dirty="0">
                <a:solidFill>
                  <a:srgbClr val="0D2B5C"/>
                </a:solidFill>
                <a:latin typeface="Calibri"/>
              </a:rPr>
              <a:t>heat</a:t>
            </a:r>
            <a:r>
              <a:rPr lang="en-US" sz="1600" b="0" dirty="0">
                <a:solidFill>
                  <a:srgbClr val="0D2B5C"/>
                </a:solidFill>
                <a:latin typeface="Calibri"/>
              </a:rPr>
              <a:t> will be worse in the future, with poorer districts accumulating heat days significantly faster, controlling for other physical characteristics. </a:t>
            </a:r>
            <a:endParaRPr sz="1600" b="0" dirty="0">
              <a:solidFill>
                <a:srgbClr val="0D2B5C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65760" y="3379507"/>
            <a:ext cx="5728652" cy="3073049"/>
          </a:xfrm>
          <a:prstGeom prst="rect">
            <a:avLst/>
          </a:prstGeom>
          <a:solidFill>
            <a:srgbClr val="F0F4FA"/>
          </a:solidFill>
          <a:ln w="9525">
            <a:solidFill>
              <a:srgbClr val="0D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3379508"/>
            <a:ext cx="68644" cy="3073048"/>
          </a:xfrm>
          <a:prstGeom prst="rect">
            <a:avLst/>
          </a:prstGeom>
          <a:solidFill>
            <a:srgbClr val="1D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1208" y="3425228"/>
            <a:ext cx="239687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 dirty="0">
                <a:solidFill>
                  <a:srgbClr val="0D2B5C"/>
                </a:solidFill>
                <a:latin typeface="Calibri"/>
              </a:rPr>
              <a:t>Public Health Implications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" y="3797797"/>
            <a:ext cx="5486400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1" dirty="0">
                <a:solidFill>
                  <a:srgbClr val="5A6E8C"/>
                </a:solidFill>
              </a:rPr>
              <a:t>• </a:t>
            </a:r>
            <a:r>
              <a:rPr lang="en-US" sz="1600" i="1" dirty="0">
                <a:solidFill>
                  <a:srgbClr val="5A6E8C"/>
                </a:solidFill>
              </a:rPr>
              <a:t>Indicates an early intervention window and an opportunity for preventive action before emergencies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endParaRPr lang="en-US" sz="1600" i="1" dirty="0">
              <a:solidFill>
                <a:srgbClr val="5A6E8C"/>
              </a:solidFill>
            </a:endParaRPr>
          </a:p>
          <a:p>
            <a:pPr>
              <a:spcAft>
                <a:spcPts val="400"/>
              </a:spcAft>
            </a:pPr>
            <a:r>
              <a:rPr lang="en-US" sz="1600" i="1" dirty="0">
                <a:solidFill>
                  <a:srgbClr val="5A6E8C"/>
                </a:solidFill>
              </a:rPr>
              <a:t>•  Can help with heat-health early warning systems and green infrastructure investments</a:t>
            </a:r>
          </a:p>
          <a:p>
            <a:pPr>
              <a:spcAft>
                <a:spcPts val="400"/>
              </a:spcAft>
            </a:pPr>
            <a:endParaRPr lang="en-US" sz="1600" i="1" dirty="0">
              <a:solidFill>
                <a:srgbClr val="5A6E8C"/>
              </a:solidFill>
            </a:endParaRPr>
          </a:p>
          <a:p>
            <a:pPr>
              <a:spcAft>
                <a:spcPts val="400"/>
              </a:spcAft>
            </a:pPr>
            <a:r>
              <a:rPr lang="en-US" sz="1600" i="1" dirty="0">
                <a:solidFill>
                  <a:srgbClr val="5A6E8C"/>
                </a:solidFill>
              </a:rPr>
              <a:t>• Key actors: Ministry of Health and Family Welfare Bangladesh and World Health Organization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81216" y="3418839"/>
            <a:ext cx="5902516" cy="1516364"/>
          </a:xfrm>
          <a:prstGeom prst="rect">
            <a:avLst/>
          </a:prstGeom>
          <a:solidFill>
            <a:srgbClr val="FFF8EC"/>
          </a:solidFill>
          <a:ln w="9525">
            <a:solidFill>
              <a:srgbClr val="C89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81216" y="3391128"/>
            <a:ext cx="112812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 dirty="0">
                <a:solidFill>
                  <a:srgbClr val="0D2B5C"/>
                </a:solidFill>
                <a:latin typeface="Calibri"/>
              </a:rPr>
              <a:t>Limitations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81216" y="3620119"/>
            <a:ext cx="5728652" cy="127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spcBef>
                <a:spcPts val="0"/>
              </a:spcBef>
              <a:spcAft>
                <a:spcPts val="400"/>
              </a:spcAft>
              <a:buFontTx/>
              <a:buChar char="-"/>
            </a:pPr>
            <a:r>
              <a:rPr lang="en-US" sz="1400" i="1" dirty="0">
                <a:solidFill>
                  <a:srgbClr val="5A6E8C"/>
                </a:solidFill>
                <a:latin typeface="Calibri"/>
              </a:rPr>
              <a:t>Temporal mismatch among covariates, assuming that </a:t>
            </a:r>
            <a:r>
              <a:rPr lang="en-US" sz="1400" b="0" i="1" dirty="0">
                <a:solidFill>
                  <a:srgbClr val="5A6E8C"/>
                </a:solidFill>
                <a:latin typeface="Calibri"/>
              </a:rPr>
              <a:t>socioeconomic and demographic conditions were stable</a:t>
            </a:r>
            <a:endParaRPr lang="en-US" sz="1400" i="1" dirty="0">
              <a:solidFill>
                <a:srgbClr val="5A6E8C"/>
              </a:solidFill>
              <a:latin typeface="Calibri"/>
            </a:endParaRPr>
          </a:p>
          <a:p>
            <a:pPr marL="171450" indent="-171450" algn="l">
              <a:spcBef>
                <a:spcPts val="0"/>
              </a:spcBef>
              <a:spcAft>
                <a:spcPts val="400"/>
              </a:spcAft>
              <a:buFontTx/>
              <a:buChar char="-"/>
            </a:pPr>
            <a:r>
              <a:rPr lang="en-US" sz="1400" b="0" i="1" dirty="0">
                <a:solidFill>
                  <a:srgbClr val="5A6E8C"/>
                </a:solidFill>
                <a:latin typeface="Calibri"/>
              </a:rPr>
              <a:t>The linear crisi</a:t>
            </a:r>
            <a:r>
              <a:rPr lang="en-US" sz="1400" i="1" dirty="0">
                <a:solidFill>
                  <a:srgbClr val="5A6E8C"/>
                </a:solidFill>
                <a:latin typeface="Calibri"/>
              </a:rPr>
              <a:t>s timeline projection assumes a constant linear warming rate</a:t>
            </a:r>
          </a:p>
          <a:p>
            <a:pPr marL="171450" indent="-171450" algn="l">
              <a:spcBef>
                <a:spcPts val="0"/>
              </a:spcBef>
              <a:spcAft>
                <a:spcPts val="400"/>
              </a:spcAft>
              <a:buFontTx/>
              <a:buChar char="-"/>
            </a:pPr>
            <a:r>
              <a:rPr lang="en-US" sz="1400" i="1" dirty="0">
                <a:solidFill>
                  <a:srgbClr val="5A6E8C"/>
                </a:solidFill>
                <a:latin typeface="Calibri"/>
              </a:rPr>
              <a:t>Small sample size limits the precision of fixed effects coefficients</a:t>
            </a:r>
            <a:endParaRPr sz="1400" b="0" i="1" dirty="0">
              <a:solidFill>
                <a:srgbClr val="5A6E8C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181216" y="5056588"/>
            <a:ext cx="5902516" cy="1371600"/>
          </a:xfrm>
          <a:prstGeom prst="rect">
            <a:avLst/>
          </a:prstGeom>
          <a:solidFill>
            <a:srgbClr val="F0F7F0"/>
          </a:solidFill>
          <a:ln w="9525">
            <a:solidFill>
              <a:srgbClr val="2A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81216" y="5057121"/>
            <a:ext cx="165481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 dirty="0">
                <a:solidFill>
                  <a:srgbClr val="0D2B5C"/>
                </a:solidFill>
                <a:latin typeface="Calibri"/>
              </a:rPr>
              <a:t>Future Directions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81216" y="5414216"/>
            <a:ext cx="5902516" cy="78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600" b="0" i="1" dirty="0">
                <a:solidFill>
                  <a:srgbClr val="5A6E8C"/>
                </a:solidFill>
                <a:latin typeface="Calibri"/>
              </a:rPr>
              <a:t>This work could be used to create a district-level heat vulnerability index, integrating exposure, sensitivity, and adaptive capacity</a:t>
            </a:r>
            <a:endParaRPr lang="en-US" sz="1600" i="1" dirty="0">
              <a:solidFill>
                <a:srgbClr val="5A6E8C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endParaRPr lang="en-US" sz="1000" i="1" dirty="0">
              <a:solidFill>
                <a:srgbClr val="5A6E8C"/>
              </a:solidFill>
              <a:latin typeface="Calibri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D4F91"/>
          </a:solidFill>
          <a:ln>
            <a:solidFill>
              <a:srgbClr val="1D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82880" y="6611112"/>
            <a:ext cx="1109167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75AADB"/>
                </a:solidFill>
                <a:latin typeface="Calibri"/>
              </a:rPr>
              <a:t>P9380: Advanced Public Health GIS  |  Columbia University Mailman School of Public Health  |  Spring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37130" y="6537960"/>
            <a:ext cx="4603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lang="en-US" sz="900" b="0" i="0" dirty="0">
                <a:solidFill>
                  <a:srgbClr val="5A6E8C"/>
                </a:solidFill>
                <a:latin typeface="Calibri"/>
              </a:rPr>
              <a:t>11/12</a:t>
            </a:r>
            <a:endParaRPr sz="900" b="0" i="0" dirty="0">
              <a:solidFill>
                <a:srgbClr val="5A6E8C"/>
              </a:solidFill>
              <a:latin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1604AB-5F81-8B32-C829-E2B491343EDA}"/>
              </a:ext>
            </a:extLst>
          </p:cNvPr>
          <p:cNvSpPr/>
          <p:nvPr/>
        </p:nvSpPr>
        <p:spPr>
          <a:xfrm>
            <a:off x="782895" y="1016715"/>
            <a:ext cx="3123692" cy="2295434"/>
          </a:xfrm>
          <a:prstGeom prst="rect">
            <a:avLst/>
          </a:prstGeom>
          <a:solidFill>
            <a:srgbClr val="E5EFF9"/>
          </a:solidFill>
          <a:ln w="9525">
            <a:solidFill>
              <a:srgbClr val="008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9FA93C7-968D-E798-9606-A1B2FF5B6CD3}"/>
              </a:ext>
            </a:extLst>
          </p:cNvPr>
          <p:cNvSpPr/>
          <p:nvPr/>
        </p:nvSpPr>
        <p:spPr>
          <a:xfrm>
            <a:off x="782895" y="1016715"/>
            <a:ext cx="3123692" cy="299690"/>
          </a:xfrm>
          <a:prstGeom prst="rect">
            <a:avLst/>
          </a:prstGeom>
          <a:solidFill>
            <a:srgbClr val="008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33B2EF-E171-D846-6263-DFC969885DC3}"/>
              </a:ext>
            </a:extLst>
          </p:cNvPr>
          <p:cNvSpPr txBox="1"/>
          <p:nvPr/>
        </p:nvSpPr>
        <p:spPr>
          <a:xfrm>
            <a:off x="1742694" y="981317"/>
            <a:ext cx="95891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 dirty="0">
                <a:solidFill>
                  <a:srgbClr val="FFFFFF"/>
                </a:solidFill>
                <a:latin typeface="Calibri"/>
              </a:rPr>
              <a:t>Finding </a:t>
            </a:r>
            <a:r>
              <a:rPr lang="en-US" sz="1600" b="1" i="0" dirty="0">
                <a:solidFill>
                  <a:srgbClr val="FFFFFF"/>
                </a:solidFill>
                <a:latin typeface="Calibri"/>
              </a:rPr>
              <a:t>1</a:t>
            </a:r>
            <a:endParaRPr sz="1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37883" y="1346856"/>
            <a:ext cx="281371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600" b="0" dirty="0">
                <a:solidFill>
                  <a:srgbClr val="0D2B5C"/>
                </a:solidFill>
                <a:latin typeface="Calibri"/>
              </a:rPr>
              <a:t>Spatial analysis reveals that the districts warming the fastest are concentrated in the north. Four independent methods indicate the Gaibandha district as the most critical emerging risk zone.</a:t>
            </a:r>
            <a:endParaRPr sz="1600" b="0" dirty="0">
              <a:solidFill>
                <a:srgbClr val="0D2B5C"/>
              </a:solidFill>
              <a:latin typeface="Calibri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1488DAC-54CD-C7A5-E13C-FE74D2B452C5}"/>
              </a:ext>
            </a:extLst>
          </p:cNvPr>
          <p:cNvSpPr/>
          <p:nvPr/>
        </p:nvSpPr>
        <p:spPr>
          <a:xfrm>
            <a:off x="8282238" y="1021446"/>
            <a:ext cx="3123692" cy="2322001"/>
          </a:xfrm>
          <a:prstGeom prst="rect">
            <a:avLst/>
          </a:prstGeom>
          <a:solidFill>
            <a:srgbClr val="E5EFF9"/>
          </a:solidFill>
          <a:ln w="9525">
            <a:solidFill>
              <a:srgbClr val="008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FAE9754-AECE-0E43-BEAE-FAA75D08115A}"/>
              </a:ext>
            </a:extLst>
          </p:cNvPr>
          <p:cNvSpPr/>
          <p:nvPr/>
        </p:nvSpPr>
        <p:spPr>
          <a:xfrm>
            <a:off x="8282238" y="1021447"/>
            <a:ext cx="3123692" cy="299690"/>
          </a:xfrm>
          <a:prstGeom prst="rect">
            <a:avLst/>
          </a:prstGeom>
          <a:solidFill>
            <a:srgbClr val="008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864C032-E341-D227-7DC8-E8E32230A83B}"/>
              </a:ext>
            </a:extLst>
          </p:cNvPr>
          <p:cNvSpPr txBox="1"/>
          <p:nvPr/>
        </p:nvSpPr>
        <p:spPr>
          <a:xfrm>
            <a:off x="9242037" y="986049"/>
            <a:ext cx="95891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 dirty="0">
                <a:solidFill>
                  <a:srgbClr val="FFFFFF"/>
                </a:solidFill>
                <a:latin typeface="Calibri"/>
              </a:rPr>
              <a:t>Finding </a:t>
            </a:r>
            <a:r>
              <a:rPr lang="en-US" sz="1600" b="1" i="0" dirty="0">
                <a:solidFill>
                  <a:srgbClr val="FFFFFF"/>
                </a:solidFill>
                <a:latin typeface="Calibri"/>
              </a:rPr>
              <a:t>3</a:t>
            </a:r>
            <a:endParaRPr sz="1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2CE9EB4-0727-4C85-C7B0-8C89EA8E8044}"/>
              </a:ext>
            </a:extLst>
          </p:cNvPr>
          <p:cNvSpPr txBox="1"/>
          <p:nvPr/>
        </p:nvSpPr>
        <p:spPr>
          <a:xfrm>
            <a:off x="8282237" y="1297601"/>
            <a:ext cx="312369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600" b="0" dirty="0">
                <a:solidFill>
                  <a:srgbClr val="0D2B5C"/>
                </a:solidFill>
                <a:latin typeface="Calibri"/>
              </a:rPr>
              <a:t>Although the current (as of 2016) exposure levels would place the regions of Gaibandha, Jamalpur, and Dinajpur below standard intervention thresholds, they are projected to reach crisis-level heat exposure within a decade of the study period’s end.</a:t>
            </a:r>
            <a:endParaRPr sz="1600" b="0" dirty="0">
              <a:solidFill>
                <a:srgbClr val="0D2B5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D4F91"/>
          </a:solidFill>
          <a:ln>
            <a:solidFill>
              <a:srgbClr val="1D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5196" y="1061097"/>
            <a:ext cx="530352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 dirty="0">
                <a:solidFill>
                  <a:srgbClr val="1A2640"/>
                </a:solidFill>
                <a:latin typeface="Calibri"/>
              </a:rPr>
              <a:t>[1]  </a:t>
            </a:r>
            <a:r>
              <a:rPr lang="en-US" sz="1000" dirty="0"/>
              <a:t>Cai, J., Maxwell, A. &amp; Zhou, B. Disease burden attributable to high temperature between 1990 and 2021 in South Asia and Southeast Asia, with projections to 2045. (2025). </a:t>
            </a:r>
            <a:r>
              <a:rPr lang="en-US" sz="1000" i="1" dirty="0"/>
              <a:t>Trop Med Health</a:t>
            </a:r>
            <a:r>
              <a:rPr lang="en-US" sz="1000" dirty="0"/>
              <a:t> 53</a:t>
            </a:r>
            <a:r>
              <a:rPr lang="en-US" sz="1000" b="1" dirty="0"/>
              <a:t>(</a:t>
            </a:r>
            <a:r>
              <a:rPr lang="en-US" sz="1000" dirty="0"/>
              <a:t>146) </a:t>
            </a:r>
            <a:r>
              <a:rPr lang="en-US" sz="1000" u="sng" dirty="0"/>
              <a:t>https://</a:t>
            </a:r>
            <a:r>
              <a:rPr lang="en-US" sz="1000" u="sng" dirty="0" err="1"/>
              <a:t>doi.org</a:t>
            </a:r>
            <a:r>
              <a:rPr lang="en-US" sz="1000" u="sng" dirty="0"/>
              <a:t>/10.1186/s41182-025-00823-4 </a:t>
            </a:r>
            <a:endParaRPr lang="en-US" sz="1000" u="sng" dirty="0">
              <a:solidFill>
                <a:srgbClr val="1A2640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000" b="0" i="0" dirty="0">
                <a:solidFill>
                  <a:srgbClr val="1A2640"/>
                </a:solidFill>
                <a:latin typeface="Calibri"/>
              </a:rPr>
              <a:t>
[2]  </a:t>
            </a:r>
            <a:r>
              <a:rPr lang="en-US" sz="1000" b="0" i="0" dirty="0">
                <a:solidFill>
                  <a:srgbClr val="1A2640"/>
                </a:solidFill>
                <a:latin typeface="Calibri"/>
              </a:rPr>
              <a:t>World Meteorological Organization</a:t>
            </a:r>
            <a:r>
              <a:rPr lang="en-US" sz="1000" dirty="0">
                <a:solidFill>
                  <a:srgbClr val="1A2640"/>
                </a:solidFill>
                <a:latin typeface="Calibri"/>
              </a:rPr>
              <a:t>. (2025). </a:t>
            </a:r>
            <a:r>
              <a:rPr lang="en-US" sz="1000" i="1" dirty="0">
                <a:solidFill>
                  <a:srgbClr val="1A2640"/>
                </a:solidFill>
                <a:latin typeface="Calibri"/>
              </a:rPr>
              <a:t>State of climate in Asia </a:t>
            </a:r>
            <a:r>
              <a:rPr lang="en-US" sz="1000" i="1" dirty="0">
                <a:latin typeface="Calibri"/>
              </a:rPr>
              <a:t>2024</a:t>
            </a:r>
            <a:r>
              <a:rPr lang="en-US" sz="1000" dirty="0">
                <a:latin typeface="Calibri"/>
              </a:rPr>
              <a:t>. </a:t>
            </a:r>
            <a:r>
              <a:rPr lang="en-US" sz="1000" dirty="0">
                <a:latin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https://wmo.int</a:t>
            </a:r>
            <a:r>
              <a:rPr lang="en-US" sz="1000" dirty="0">
                <a:latin typeface="Calibri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000" b="0" i="0" dirty="0">
                <a:solidFill>
                  <a:srgbClr val="1A2640"/>
                </a:solidFill>
                <a:latin typeface="Calibri"/>
              </a:rPr>
              <a:t>
[3] </a:t>
            </a:r>
            <a:r>
              <a:rPr lang="en-US" sz="1000" dirty="0"/>
              <a:t>Romanello, M., Walawender, M., Hsu, S. C., </a:t>
            </a:r>
            <a:r>
              <a:rPr lang="en-US" sz="1000" dirty="0" err="1"/>
              <a:t>Moskeland</a:t>
            </a:r>
            <a:r>
              <a:rPr lang="en-US" sz="1000" dirty="0"/>
              <a:t>, A., Palmeiro-Silva, Y., Scamman, D., Ali, Z., Ameli, N., Angelova, D., </a:t>
            </a:r>
            <a:r>
              <a:rPr lang="en-US" sz="1000" dirty="0" err="1"/>
              <a:t>Ayeb</a:t>
            </a:r>
            <a:r>
              <a:rPr lang="en-US" sz="1000" dirty="0"/>
              <a:t>-Karlsson, S., Basart, S., Beagley, J., Beggs, P. J., Blanco-Villafuerte, L., Cai, W., Callaghan, M., Campbell-Lendrum, D., Chambers, J. D., </a:t>
            </a:r>
            <a:r>
              <a:rPr lang="en-US" sz="1000" dirty="0" err="1"/>
              <a:t>Chicmana</a:t>
            </a:r>
            <a:r>
              <a:rPr lang="en-US" sz="1000" dirty="0"/>
              <a:t>-Zapata, V., Chu, L., … Costello, A. The 2024 report of the Lancet Countdown on health and climate change: facing record-breaking threats from delayed action.  (2024). </a:t>
            </a:r>
            <a:r>
              <a:rPr lang="en-US" sz="1000" i="1" dirty="0"/>
              <a:t>Lancet (London, England)</a:t>
            </a:r>
            <a:r>
              <a:rPr lang="en-US" sz="1000" dirty="0"/>
              <a:t>, </a:t>
            </a:r>
            <a:r>
              <a:rPr lang="en-US" sz="1000" i="1" dirty="0"/>
              <a:t>404</a:t>
            </a:r>
            <a:r>
              <a:rPr lang="en-US" sz="1000" dirty="0"/>
              <a:t>(10465), 1847–1896. </a:t>
            </a:r>
            <a:r>
              <a:rPr lang="en-US" sz="1000" u="sng" dirty="0"/>
              <a:t>https://</a:t>
            </a:r>
            <a:r>
              <a:rPr lang="en-US" sz="1000" u="sng" dirty="0" err="1"/>
              <a:t>doi.org</a:t>
            </a:r>
            <a:r>
              <a:rPr lang="en-US" sz="1000" u="sng" dirty="0"/>
              <a:t>/10.1016/S0140-6736(24)01822-1 .</a:t>
            </a:r>
            <a:endParaRPr lang="en-US" sz="1000" u="sng" dirty="0">
              <a:solidFill>
                <a:srgbClr val="1A2640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000" b="0" i="0" dirty="0">
                <a:solidFill>
                  <a:srgbClr val="1A2640"/>
                </a:solidFill>
                <a:latin typeface="Calibri"/>
              </a:rPr>
              <a:t>
[4] </a:t>
            </a:r>
            <a:r>
              <a:rPr lang="en-US" sz="1000" dirty="0"/>
              <a:t>N.S. Diffenbaugh, &amp; M. Burke,  Global warming has increased global economic inequality. (2019). Proc. Natl. Acad. Sci. U.S.A. 116 (20) 9808-9813, </a:t>
            </a:r>
            <a:r>
              <a:rPr lang="en-US" sz="1000" u="sng" dirty="0"/>
              <a:t>https://</a:t>
            </a:r>
            <a:r>
              <a:rPr lang="en-US" sz="1000" u="sng" dirty="0" err="1"/>
              <a:t>doi.org</a:t>
            </a:r>
            <a:r>
              <a:rPr lang="en-US" sz="1000" u="sng" dirty="0"/>
              <a:t>/10.1073/pnas.1816020116 (2019).</a:t>
            </a:r>
          </a:p>
          <a:p>
            <a:pPr>
              <a:spcAft>
                <a:spcPts val="400"/>
              </a:spcAft>
            </a:pPr>
            <a:endParaRPr lang="en-US" sz="1000" u="sng" dirty="0"/>
          </a:p>
          <a:p>
            <a:pPr>
              <a:spcAft>
                <a:spcPts val="400"/>
              </a:spcAft>
            </a:pPr>
            <a:r>
              <a:rPr lang="en-US" sz="1000" dirty="0">
                <a:solidFill>
                  <a:srgbClr val="1A2640"/>
                </a:solidFill>
              </a:rPr>
              <a:t>[5] </a:t>
            </a:r>
            <a:r>
              <a:rPr lang="en-US" sz="1000" dirty="0"/>
              <a:t>Mani Z, Ranse J, </a:t>
            </a:r>
            <a:r>
              <a:rPr lang="en-US" sz="1000" dirty="0" err="1"/>
              <a:t>Goniewicz</a:t>
            </a:r>
            <a:r>
              <a:rPr lang="en-US" sz="1000" dirty="0"/>
              <a:t> K. Why extreme heat weather is a global health emergency: a retrospective analysis. Int J Emerg Med. (2025) 18(1):255. </a:t>
            </a:r>
            <a:r>
              <a:rPr lang="en-US" sz="1000" dirty="0" err="1"/>
              <a:t>doi</a:t>
            </a:r>
            <a:r>
              <a:rPr lang="en-US" sz="1000" dirty="0"/>
              <a:t>: 10.1186/s12245-025-01062.</a:t>
            </a:r>
            <a:r>
              <a:rPr lang="en-US" sz="1000" dirty="0">
                <a:solidFill>
                  <a:srgbClr val="1A2640"/>
                </a:solidFill>
              </a:rPr>
              <a:t>
[6] Debasish Roy Raja, Md Shah Naim </a:t>
            </a:r>
            <a:r>
              <a:rPr lang="en-US" sz="1000" dirty="0" err="1">
                <a:solidFill>
                  <a:srgbClr val="1A2640"/>
                </a:solidFill>
              </a:rPr>
              <a:t>Hredoy</a:t>
            </a:r>
            <a:r>
              <a:rPr lang="en-US" sz="1000" dirty="0">
                <a:solidFill>
                  <a:srgbClr val="1A2640"/>
                </a:solidFill>
              </a:rPr>
              <a:t>, Md. Kamrul Islam, K.M. Ashraful Islam, Mohammed Sarfaraz Gani Adnan, Spatial distribution of heatwave vulnerability in a coastal city of Bangladesh. (</a:t>
            </a:r>
            <a:r>
              <a:rPr lang="en-US" sz="1000" dirty="0"/>
              <a:t>2021). Environmental Challenges, Volume 4, 100122, ISSN 2667-0100, </a:t>
            </a:r>
            <a:r>
              <a:rPr lang="en-US" sz="1000" u="sng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https://doi.org/10.1016/j.envc.2021.100122</a:t>
            </a:r>
            <a:r>
              <a:rPr lang="en-US" sz="1000" dirty="0"/>
              <a:t>.</a:t>
            </a:r>
          </a:p>
          <a:p>
            <a:pPr>
              <a:spcAft>
                <a:spcPts val="400"/>
              </a:spcAft>
            </a:pPr>
            <a:endParaRPr lang="en-US" sz="1000" u="sng" dirty="0"/>
          </a:p>
          <a:p>
            <a:pPr>
              <a:spcAft>
                <a:spcPts val="400"/>
              </a:spcAft>
            </a:pPr>
            <a:r>
              <a:rPr lang="en-US" sz="1000" dirty="0"/>
              <a:t>[7] </a:t>
            </a:r>
            <a:r>
              <a:rPr lang="en-US" sz="1000" dirty="0" err="1"/>
              <a:t>Tuholske</a:t>
            </a:r>
            <a:r>
              <a:rPr lang="en-US" sz="1000" dirty="0"/>
              <a:t>, C., Peterson, P., Funk, C., &amp; Caylor, K. (2023). </a:t>
            </a:r>
            <a:r>
              <a:rPr lang="en-US" sz="1000" i="1" dirty="0"/>
              <a:t>Annual global high-resolution extreme heat estimates (GEHE), 1983–2016</a:t>
            </a:r>
            <a:r>
              <a:rPr lang="en-US" sz="1000" dirty="0"/>
              <a:t> (Version 1.00) [Data set]. NASA Socioeconomic Data and Applications Center (SEDAC). </a:t>
            </a:r>
            <a:r>
              <a:rPr lang="en-US" sz="10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https://doi.org/10.7927/hff0-k565 </a:t>
            </a:r>
            <a:endParaRPr lang="en-US" sz="1000" dirty="0"/>
          </a:p>
          <a:p>
            <a:pPr>
              <a:spcAft>
                <a:spcPts val="400"/>
              </a:spcAft>
            </a:pPr>
            <a:endParaRPr lang="en-US" sz="1000" u="sng" dirty="0">
              <a:solidFill>
                <a:srgbClr val="1A2640"/>
              </a:solidFill>
            </a:endParaRPr>
          </a:p>
          <a:p>
            <a:pPr>
              <a:spcAft>
                <a:spcPts val="400"/>
              </a:spcAft>
            </a:pPr>
            <a:endParaRPr lang="en-US" sz="1000" u="sng" dirty="0"/>
          </a:p>
          <a:p>
            <a:pPr>
              <a:spcAft>
                <a:spcPts val="400"/>
              </a:spcAft>
            </a:pPr>
            <a:endParaRPr sz="1000" b="0" i="0" dirty="0">
              <a:solidFill>
                <a:srgbClr val="1A2640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303520" cy="46063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 dirty="0">
                <a:solidFill>
                  <a:srgbClr val="1A2640"/>
                </a:solidFill>
                <a:latin typeface="Calibri"/>
              </a:rPr>
              <a:t>[8] </a:t>
            </a:r>
            <a:r>
              <a:rPr lang="en-US" sz="1000" dirty="0" err="1"/>
              <a:t>Tuholske</a:t>
            </a:r>
            <a:r>
              <a:rPr lang="en-US" sz="1000" dirty="0"/>
              <a:t>, C., Caylor, K., Funk, C., Verdin, A., Sweeney, S., Grace, K., Peterson, P., &amp; Evans, T. (2021). Global urban population exposure to extreme heat. </a:t>
            </a:r>
            <a:r>
              <a:rPr lang="en-US" sz="1000" i="1" dirty="0"/>
              <a:t>Proceedings of the National Academy of Sciences, 118</a:t>
            </a:r>
            <a:r>
              <a:rPr lang="en-US" sz="1000" dirty="0"/>
              <a:t>(41), e2024792118. </a:t>
            </a:r>
            <a:r>
              <a:rPr lang="en-US" sz="1000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https://doi.org/10.1073/pnas.2024792118</a:t>
            </a:r>
            <a:endParaRPr lang="en-US" sz="1000" dirty="0"/>
          </a:p>
          <a:p>
            <a:pPr>
              <a:spcAft>
                <a:spcPts val="400"/>
              </a:spcAft>
            </a:pP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/>
              <a:t>[9] Chi, G., Fang, H., Chatterjee, S., &amp; Blumenstock, J. E. (2022). </a:t>
            </a:r>
            <a:r>
              <a:rPr lang="en-US" sz="1000" dirty="0" err="1"/>
              <a:t>Microestimates</a:t>
            </a:r>
            <a:r>
              <a:rPr lang="en-US" sz="1000" dirty="0"/>
              <a:t> of wealth for all low- and middle-income countries. </a:t>
            </a:r>
            <a:r>
              <a:rPr lang="en-US" sz="1000" i="1" dirty="0"/>
              <a:t>Proceedings of the National Academy of Sciences, 119</a:t>
            </a:r>
            <a:r>
              <a:rPr lang="en-US" sz="1000" dirty="0"/>
              <a:t>(3), e2113658119. </a:t>
            </a:r>
            <a:r>
              <a:rPr lang="en-US" sz="1000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https://doi.org/10.1073/pnas.2113658119</a:t>
            </a:r>
            <a:endParaRPr lang="en-US" sz="1000" dirty="0"/>
          </a:p>
          <a:p>
            <a:pPr>
              <a:spcAft>
                <a:spcPts val="400"/>
              </a:spcAft>
            </a:pP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/>
              <a:t>[10] NASA JPL. (2013). </a:t>
            </a:r>
            <a:r>
              <a:rPr lang="en-US" sz="1000" i="1" dirty="0"/>
              <a:t>NASA shuttle radar topography mission global 1 arc second</a:t>
            </a:r>
            <a:r>
              <a:rPr lang="en-US" sz="1000" dirty="0"/>
              <a:t> (Version 3) [Data set]. NASA Land Processes Distributed Active Archive Center. </a:t>
            </a:r>
            <a:r>
              <a:rPr lang="en-US" sz="1000" dirty="0"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https://doi.org/10.5067/MEASURES/SRTM/SRTMGL1.003</a:t>
            </a:r>
            <a:endParaRPr lang="en-US" sz="1000" dirty="0"/>
          </a:p>
          <a:p>
            <a:pPr>
              <a:spcAft>
                <a:spcPts val="400"/>
              </a:spcAft>
            </a:pP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/>
              <a:t>[11] Center For International Earth Science Information Network-CIESIN-Columbia University. (2017). </a:t>
            </a:r>
            <a:r>
              <a:rPr lang="en-US" sz="1000" i="1" dirty="0"/>
              <a:t>Gridded Population of the World, Version 4 (GPWv4): Population Density, Revision 11</a:t>
            </a:r>
            <a:r>
              <a:rPr lang="en-US" sz="1000" dirty="0"/>
              <a:t> (Version 4.11) [Data set]. Palisades, NY: NASA Socioeconomic Data and Applications Center (SEDAC). </a:t>
            </a:r>
            <a:r>
              <a:rPr lang="en-US" sz="1000" dirty="0"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https://doi.org/10.7927/H49C6VHW</a:t>
            </a:r>
            <a:endParaRPr lang="en-US" sz="1000" dirty="0"/>
          </a:p>
          <a:p>
            <a:pPr>
              <a:spcAft>
                <a:spcPts val="400"/>
              </a:spcAft>
            </a:pP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/>
              <a:t>[12] GADM. (2022). </a:t>
            </a:r>
            <a:r>
              <a:rPr lang="en-US" sz="1000" i="1" dirty="0"/>
              <a:t>Database of global administrative areas, version 4.1</a:t>
            </a:r>
            <a:r>
              <a:rPr lang="en-US" sz="1000" dirty="0"/>
              <a:t> [Data set]. University of California, Berkeley. </a:t>
            </a:r>
            <a:r>
              <a:rPr lang="en-US" sz="1000" dirty="0"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https://gadm.org</a:t>
            </a:r>
            <a:endParaRPr lang="en-US" sz="1000" dirty="0"/>
          </a:p>
          <a:p>
            <a:pPr>
              <a:spcAft>
                <a:spcPts val="400"/>
              </a:spcAft>
            </a:pP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/>
              <a:t>[13] Massicotte P, South A (2026). </a:t>
            </a:r>
            <a:r>
              <a:rPr lang="en-US" sz="1000" i="1" dirty="0" err="1"/>
              <a:t>rnaturalearth</a:t>
            </a:r>
            <a:r>
              <a:rPr lang="en-US" sz="1000" i="1" dirty="0"/>
              <a:t>: World Map Data from Natural Earth</a:t>
            </a:r>
            <a:r>
              <a:rPr lang="en-US" sz="1000" dirty="0"/>
              <a:t>. R package version 1.2.0.9000, </a:t>
            </a:r>
            <a:r>
              <a:rPr lang="en-US" sz="1000" u="sng" dirty="0"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https://docs.ropensci.org/rnaturalearth/</a:t>
            </a:r>
            <a:r>
              <a:rPr lang="en-US" sz="1000" dirty="0"/>
              <a:t>.</a:t>
            </a:r>
          </a:p>
          <a:p>
            <a:pPr>
              <a:spcAft>
                <a:spcPts val="400"/>
              </a:spcAft>
            </a:pPr>
            <a:endParaRPr lang="en-US" sz="1000" dirty="0"/>
          </a:p>
          <a:p>
            <a:pPr>
              <a:spcAft>
                <a:spcPts val="400"/>
              </a:spcAft>
            </a:pPr>
            <a:r>
              <a:rPr lang="en-US" sz="1000" dirty="0"/>
              <a:t> [14] </a:t>
            </a:r>
            <a:r>
              <a:rPr lang="en-US" altLang="en-US" sz="1000" dirty="0"/>
              <a:t>Arel-Bundock, V. (2023). </a:t>
            </a:r>
            <a:r>
              <a:rPr lang="en-US" altLang="en-US" sz="1000" i="1" dirty="0"/>
              <a:t>WDI: World Development Indicators (World Bank)</a:t>
            </a:r>
            <a:r>
              <a:rPr lang="en-US" altLang="en-US" sz="1000" dirty="0"/>
              <a:t>. R package.</a:t>
            </a:r>
          </a:p>
          <a:p>
            <a:pPr>
              <a:spcAft>
                <a:spcPts val="400"/>
              </a:spcAft>
            </a:pPr>
            <a:endParaRPr lang="en-US" sz="1000" dirty="0"/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D4F91"/>
          </a:solidFill>
          <a:ln>
            <a:solidFill>
              <a:srgbClr val="1D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6611112"/>
            <a:ext cx="1109167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75AADB"/>
                </a:solidFill>
                <a:latin typeface="Calibri"/>
              </a:rPr>
              <a:t>P9380: Advanced Public Health GIS  |  Columbia University Mailman School of Public Health  |  Spring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7130" y="6537960"/>
            <a:ext cx="4603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lang="en-US" sz="900" b="0" i="0" dirty="0">
                <a:solidFill>
                  <a:srgbClr val="5A6E8C"/>
                </a:solidFill>
                <a:latin typeface="Calibri"/>
              </a:rPr>
              <a:t>12/12</a:t>
            </a:r>
            <a:endParaRPr sz="900" b="0" i="0" dirty="0">
              <a:solidFill>
                <a:srgbClr val="5A6E8C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12230</TotalTime>
  <Words>2790</Words>
  <Application>Microsoft Macintosh PowerPoint</Application>
  <PresentationFormat>Custom</PresentationFormat>
  <Paragraphs>263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Maya Arnott</cp:lastModifiedBy>
  <cp:revision>16</cp:revision>
  <dcterms:created xsi:type="dcterms:W3CDTF">2013-01-27T09:14:16Z</dcterms:created>
  <dcterms:modified xsi:type="dcterms:W3CDTF">2026-04-29T18:35:02Z</dcterms:modified>
  <cp:category/>
</cp:coreProperties>
</file>